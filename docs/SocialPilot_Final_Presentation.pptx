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21"/>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B3D"/>
                </a:solidFill>
                <a:latin typeface="+mn-lt"/>
              </a:defRPr>
            </a:pPr>
            <a:r>
              <a:rPr sz="1300" b="0" i="0" u="none" strike="noStrike">
                <a:solidFill>
                  <a:srgbClr val="0F1B3D"/>
                </a:solidFill>
                <a:latin typeface="+mn-lt"/>
              </a:rPr>
              <a:t>Initial page load: JavaScript size (gzip, kB)</a:t>
            </a:r>
          </a:p>
        </c:rich>
      </c:tx>
      <c:layout/>
      <c:overlay val="0"/>
    </c:title>
    <c:autoTitleDeleted val="0"/>
    <c:plotArea>
      <c:layout/>
      <c:barChart>
        <c:barDir val="col"/>
        <c:grouping val="clustered"/>
        <c:varyColors val="0"/>
        <c:ser>
          <c:idx val="0"/>
          <c:order val="0"/>
          <c:tx>
            <c:strRef>
              <c:f>Sheet1!$B$1</c:f>
              <c:strCache>
                <c:ptCount val="1"/>
                <c:pt idx="0">
                  <c:v>Initial JS (gzip, kB)</c:v>
                </c:pt>
              </c:strCache>
            </c:strRef>
          </c:tx>
          <c:spPr>
            <a:solidFill>
              <a:srgbClr val="8A94A8"/>
            </a:solidFill>
            <a:effectLst/>
          </c:spPr>
          <c:invertIfNegative val="0"/>
          <c:dLbls>
            <c:numFmt formatCode="0.0" sourceLinked="0"/>
            <c:txPr>
              <a:bodyPr/>
              <a:lstStyle/>
              <a:p>
                <a:pPr>
                  <a:defRPr b="0" i="0" strike="noStrike" sz="1200" u="none">
                    <a:solidFill>
                      <a:srgbClr val="1B2236"/>
                    </a:solidFill>
                    <a:latin typeface="+mn-lt"/>
                  </a:defRPr>
                </a:pPr>
              </a:p>
            </c:txPr>
            <c:showLegendKey val="0"/>
            <c:showVal val="1"/>
            <c:showCatName val="0"/>
            <c:showSerName val="0"/>
            <c:showPercent val="0"/>
            <c:showBubbleSize val="0"/>
            <c:showLeaderLines val="0"/>
          </c:dLbls>
          <c:dPt>
            <c:idx val="0"/>
            <c:invertIfNegative val="0"/>
            <c:bubble3D val="0"/>
            <c:spPr>
              <a:solidFill>
                <a:srgbClr val="8A94A8"/>
              </a:solidFill>
              <a:effectLst/>
            </c:spPr>
          </c:dPt>
          <c:dPt>
            <c:idx val="1"/>
            <c:invertIfNegative val="0"/>
            <c:bubble3D val="0"/>
            <c:spPr>
              <a:solidFill>
                <a:srgbClr val="13A89E"/>
              </a:solidFill>
              <a:effectLst/>
            </c:spPr>
          </c:dPt>
          <c:cat>
            <c:multiLvlStrRef>
              <c:f>Sheet1!$A$2:$A$3</c:f>
              <c:multiLvlStrCache>
                <c:ptCount val="2"/>
                <c:lvl>
                  <c:pt idx="0">
                    <c:v>Before</c:v>
                  </c:pt>
                  <c:pt idx="1">
                    <c:v>After</c:v>
                  </c:pt>
                </c:lvl>
              </c:multiLvlStrCache>
            </c:multiLvlStrRef>
          </c:cat>
          <c:val>
            <c:numRef>
              <c:f>Sheet1!$B$2:$B$3</c:f>
              <c:numCache>
                <c:formatCode>General</c:formatCode>
                <c:ptCount val="2"/>
                <c:pt idx="0">
                  <c:v>218.86</c:v>
                </c:pt>
                <c:pt idx="1">
                  <c:v>73.91</c:v>
                </c:pt>
              </c:numCache>
            </c:numRef>
          </c:val>
        </c:ser>
        <c:dLbls>
          <c:numFmt formatCode="0.0" sourceLinked="0"/>
          <c:txPr>
            <a:bodyPr/>
            <a:lstStyle/>
            <a:p>
              <a:pPr>
                <a:defRPr b="0" i="0" strike="noStrike" sz="1200" u="none">
                  <a:solidFill>
                    <a:srgbClr val="1B22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236"/>
                </a:solidFill>
                <a:latin typeface="+mn-lt"/>
              </a:defRPr>
            </a:pPr>
            <a:endParaRPr lang="en-US"/>
          </a:p>
        </c:txPr>
        <c:crossAx val="2094734552"/>
        <c:crosses val="autoZero"/>
        <c:auto val="1"/>
        <c:lblAlgn val="ctr"/>
        <c:noMultiLvlLbl val="1"/>
      </c:catAx>
      <c:valAx>
        <c:axId val="2094734552"/>
        <c:scaling>
          <c:orientation val="minMax"/>
          <c:max val="26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one dashboard to schedule, publish and measure social content. Everything in this deck follows the project brief PDF: nine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built it. Anyone managing several social accounts juggles separate tools, forgets posting times, has no approval history when working in a team, and cannot easily show results. SocialPilot answers each pain with one feature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section 2 (Objective). The four statistics: four user roles, nine modules from the brief, five platform adapters (Facebook, Instagram, LinkedIn, X, YouTube), and 139 backend plus 22 frontend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page-by-page view of what the user sees. Every page is shown or hidden according to the user's role in the selected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post. Manager-authored posts need manager approval and then creator final approval. The publishing worker is a separate process, so scheduled posts survive restarts. Before sending, it rechecks that the scheduling user is still a creator with access to the content and campaign. Failed jobs retry with backoff; uncertain outcomes are reconciled rather than blindly 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section 3 shows a microservices diagram with Redis, MongoDB and Kubernetes. Our version keeps the same layers (UI, API, workers, data) but as a simpler deployable: one FastAPI service, two workers and PostgreSQL. Queue ownership and transactions stay in the database, which makes retries and uncertain-outcome handling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section 7 lists the stack. Ours matches it for Python, FastAPI, React, PostgreSQL, SQLAlchemy, Pydantic, Alembic, Uvicorn and Docker. Next.js, Tailwind, Chart.js, Redis, Celery and MongoDB were not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modules from the brief that we built. Known gaps such as Pinterest, stories and reels, audience demographics and live provider checks are listed on the Future scope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names four roles: Content Creator, Marketing Team, Business User, Administrator. Business User and Administrator are selectable but view-only. Only creators connect accounts, schedule and publish. Managers draft and approve, then the creator gives final approval. The worker rechecks the scheduling user's creator role immediately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full project audit was completed. Since then we added an 8-character password minimum, a registration rate limit, proxy-aware client IP limits (needed behind the Render proxy), and CSP and HSTS headers. Still open before public onboarding: email verification at registration and token storage. API documentation pages are disabled in production.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problems met while building. Each was fixed in code or documented as a stated limit. The Meta app is in test mode, so only tester accounts can connect Instagram and Facebook until the app passes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Numbers come from the consolidated test report dated 6 October 2026. Initial bundle: old entry 775.90 kB (218.86 kB gzip) versus about 233.43 kB (73.91 kB gzip) now. Automated tests mock the platforms. Real publishing was checked separately on the live site for Instagram, Facebook and YouTube. Load targets such as concurrent users and API latency have not been benchmarked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term items are work already planned or prepared. The AI, mobile and single sign-on items are proposals, not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restating that the platform delivers the core workflow, is live, and that the remaining gaps are listed honestly.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is live. Vercel serves the React app, Render runs the FastAPI API in Docker, and Neon holds PostgreSQL. A free Render service has no background worker, so the publishing worker runs as a GitHub Actions workflow that is started by hand: it publishes due posts and exits. We verified real posts on Instagram, Facebook and YouTube. Limits to state: the free API sleeps when idle, the Meta app is in test mode, YouTube uploads are private, and LinkedIn and X are not connected.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B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SocialPilot  |  Final presentation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35040" y="-1005840"/>
            <a:ext cx="4754880" cy="4754880"/>
          </a:xfrm>
          <a:prstGeom prst="ellipse">
            <a:avLst/>
          </a:prstGeom>
          <a:solidFill>
            <a:schemeClr val="accent2">
              <a:alpha val="18000"/>
            </a:schemeClr>
          </a:solidFill>
          <a:ln w="12700">
            <a:solidFill>
              <a:srgbClr val="0F1B3D"/>
            </a:solidFill>
            <a:prstDash val="solid"/>
          </a:ln>
        </p:spPr>
        <p:txBody>
          <a:bodyPr/>
          <a:p/>
        </p:txBody>
      </p:sp>
      <p:sp>
        <p:nvSpPr>
          <p:cNvPr id="3" name="Shape 1"/>
          <p:cNvSpPr/>
          <p:nvPr/>
        </p:nvSpPr>
        <p:spPr>
          <a:xfrm>
            <a:off x="6949440" y="2377440"/>
            <a:ext cx="3291840" cy="3291840"/>
          </a:xfrm>
          <a:prstGeom prst="ellipse">
            <a:avLst/>
          </a:prstGeom>
          <a:solidFill>
            <a:schemeClr val="accent1">
              <a:alpha val="20000"/>
            </a:schemeClr>
          </a:solidFill>
          <a:ln w="12700">
            <a:solidFill>
              <a:srgbClr val="0F1B3D"/>
            </a:solidFill>
            <a:prstDash val="solid"/>
          </a:ln>
        </p:spPr>
        <p:txBody>
          <a:bodyPr/>
          <a:p/>
        </p:txBody>
      </p:sp>
      <p:sp>
        <p:nvSpPr>
          <p:cNvPr id="4" name="Shape 2"/>
          <p:cNvSpPr/>
          <p:nvPr/>
        </p:nvSpPr>
        <p:spPr>
          <a:xfrm>
            <a:off x="548640" y="640080"/>
            <a:ext cx="731520" cy="731520"/>
          </a:xfrm>
          <a:prstGeom prst="ellipse">
            <a:avLst/>
          </a:prstGeom>
          <a:solidFill>
            <a:schemeClr val="accent1"/>
          </a:solidFill>
          <a:ln w="12700">
            <a:solidFill>
              <a:schemeClr val="accent1"/>
            </a:solidFill>
            <a:prstDash val="solid"/>
          </a:ln>
        </p:spPr>
        <p:txBody>
          <a:bodyPr/>
          <a:p/>
        </p:txBody>
      </p:sp>
      <p:pic>
        <p:nvPicPr>
          <p:cNvPr id="5" name="Image 0" descr="preencoded.png">    </p:cNvPr>
          <p:cNvPicPr>
            <a:picLocks noChangeAspect="1"/>
          </p:cNvPicPr>
          <p:nvPr/>
        </p:nvPicPr>
        <p:blipFill>
          <a:blip r:embed="rId1"/>
          <a:stretch>
            <a:fillRect/>
          </a:stretch>
        </p:blipFill>
        <p:spPr>
          <a:xfrm>
            <a:off x="746150" y="837590"/>
            <a:ext cx="336499" cy="336499"/>
          </a:xfrm>
          <a:prstGeom prst="rect">
            <a:avLst/>
          </a:prstGeom>
        </p:spPr>
      </p:pic>
      <p:sp>
        <p:nvSpPr>
          <p:cNvPr id="6" name="Text 3"/>
          <p:cNvSpPr txBox="1"/>
          <p:nvPr/>
        </p:nvSpPr>
        <p:spPr>
          <a:xfrm>
            <a:off x="548640" y="1554480"/>
            <a:ext cx="7315200" cy="82296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SocialPilot</a:t>
            </a:r>
            <a:endParaRPr lang="en-US" sz="5400" dirty="0"/>
          </a:p>
        </p:txBody>
      </p:sp>
      <p:sp>
        <p:nvSpPr>
          <p:cNvPr id="7" name="Text 4"/>
          <p:cNvSpPr txBox="1"/>
          <p:nvPr/>
        </p:nvSpPr>
        <p:spPr>
          <a:xfrm>
            <a:off x="548640" y="2423160"/>
            <a:ext cx="6949440" cy="457200"/>
          </a:xfrm>
          <a:prstGeom prst="rect">
            <a:avLst/>
          </a:prstGeom>
          <a:noFill/>
          <a:ln/>
        </p:spPr>
        <p:txBody>
          <a:bodyPr wrap="square" lIns="0" tIns="0" rIns="0" bIns="0" rtlCol="0" anchor="ctr"/>
          <a:lstStyle/>
          <a:p>
            <a:pPr indent="0" marL="0">
              <a:buNone/>
            </a:pPr>
            <a:r>
              <a:rPr lang="en-US" sz="2200" dirty="0">
                <a:solidFill>
                  <a:schemeClr val="bg2"/>
                </a:solidFill>
                <a:latin typeface="Calibri" pitchFamily="34" charset="0"/>
                <a:ea typeface="Calibri" pitchFamily="34" charset="-122"/>
                <a:cs typeface="Calibri" pitchFamily="34" charset="-120"/>
              </a:rPr>
              <a:t>Social Media Scheduler &amp; Campaign Management Platform</a:t>
            </a:r>
            <a:endParaRPr lang="en-US" sz="2200" dirty="0"/>
          </a:p>
        </p:txBody>
      </p:sp>
      <p:sp>
        <p:nvSpPr>
          <p:cNvPr id="8" name="Text 5"/>
          <p:cNvSpPr txBox="1"/>
          <p:nvPr/>
        </p:nvSpPr>
        <p:spPr>
          <a:xfrm>
            <a:off x="548640" y="3154680"/>
            <a:ext cx="6949440" cy="3200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Final project presentation  |  Aryan Patel</a:t>
            </a:r>
            <a:endParaRPr lang="en-US" sz="1600" dirty="0"/>
          </a:p>
        </p:txBody>
      </p:sp>
      <p:sp>
        <p:nvSpPr>
          <p:cNvPr id="9" name="Text 6"/>
          <p:cNvSpPr txBox="1"/>
          <p:nvPr/>
        </p:nvSpPr>
        <p:spPr>
          <a:xfrm>
            <a:off x="548640" y="3520440"/>
            <a:ext cx="6949440" cy="320040"/>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Python  |  FastAPI  |  React  |  PostgreSQL  |  Docker</a:t>
            </a:r>
            <a:endParaRPr lang="en-US" sz="1400" dirty="0"/>
          </a:p>
        </p:txBody>
      </p:sp>
      <p:sp>
        <p:nvSpPr>
          <p:cNvPr id="10" name="Text 7"/>
          <p:cNvSpPr txBox="1"/>
          <p:nvPr/>
        </p:nvSpPr>
        <p:spPr>
          <a:xfrm>
            <a:off x="548640" y="4343400"/>
            <a:ext cx="6583680" cy="45720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Scope reference: project brief PDF "Python - Intelligent Social Media Scheduling and Multi-Platform Campaign Management Platform"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problem: social media is scattered</a:t>
            </a:r>
            <a:endParaRPr lang="en-US" sz="3000" dirty="0"/>
          </a:p>
        </p:txBody>
      </p:sp>
      <p:sp>
        <p:nvSpPr>
          <p:cNvPr id="3" name="Text 1"/>
          <p:cNvSpPr txBox="1"/>
          <p:nvPr/>
        </p:nvSpPr>
        <p:spPr>
          <a:xfrm>
            <a:off x="457200" y="1005840"/>
            <a:ext cx="365760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The pain</a:t>
            </a:r>
            <a:endParaRPr lang="en-US" sz="1200" dirty="0"/>
          </a:p>
        </p:txBody>
      </p:sp>
      <p:sp>
        <p:nvSpPr>
          <p:cNvPr id="4" name="Text 2"/>
          <p:cNvSpPr txBox="1"/>
          <p:nvPr/>
        </p:nvSpPr>
        <p:spPr>
          <a:xfrm>
            <a:off x="4754880" y="1005840"/>
            <a:ext cx="3657600" cy="274320"/>
          </a:xfrm>
          <a:prstGeom prst="rect">
            <a:avLst/>
          </a:prstGeom>
          <a:noFill/>
          <a:ln/>
        </p:spPr>
        <p:txBody>
          <a:bodyPr wrap="square" lIns="0" tIns="0" rIns="0" bIns="0" rtlCol="0" anchor="ctr"/>
          <a:lstStyle/>
          <a:p>
            <a:pPr indent="0" marL="0">
              <a:buNone/>
            </a:pPr>
            <a:r>
              <a:rPr lang="en-US" sz="1200" b="1" dirty="0">
                <a:solidFill>
                  <a:schemeClr val="accent5"/>
                </a:solidFill>
                <a:latin typeface="Calibri" pitchFamily="34" charset="0"/>
                <a:ea typeface="Calibri" pitchFamily="34" charset="-122"/>
                <a:cs typeface="Calibri" pitchFamily="34" charset="-120"/>
              </a:rPr>
              <a:t>How SocialPilot answers it</a:t>
            </a:r>
            <a:endParaRPr lang="en-US" sz="1200" dirty="0"/>
          </a:p>
        </p:txBody>
      </p:sp>
      <p:sp>
        <p:nvSpPr>
          <p:cNvPr id="5" name="Shape 3"/>
          <p:cNvSpPr/>
          <p:nvPr/>
        </p:nvSpPr>
        <p:spPr>
          <a:xfrm>
            <a:off x="457200" y="1325880"/>
            <a:ext cx="4023360" cy="731520"/>
          </a:xfrm>
          <a:prstGeom prst="roundRect">
            <a:avLst>
              <a:gd name="adj" fmla="val 10000"/>
            </a:avLst>
          </a:prstGeom>
          <a:solidFill>
            <a:schemeClr val="bg2"/>
          </a:solidFill>
          <a:ln w="12700">
            <a:solidFill>
              <a:schemeClr val="bg2"/>
            </a:solidFill>
            <a:prstDash val="solid"/>
          </a:ln>
        </p:spPr>
      </p:sp>
      <p:sp>
        <p:nvSpPr>
          <p:cNvPr id="6" name="Text 4"/>
          <p:cNvSpPr txBox="1"/>
          <p:nvPr/>
        </p:nvSpPr>
        <p:spPr>
          <a:xfrm>
            <a:off x="594360" y="1380744"/>
            <a:ext cx="37490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Many logins, many tools</a:t>
            </a:r>
            <a:endParaRPr lang="en-US" sz="1400" dirty="0"/>
          </a:p>
        </p:txBody>
      </p:sp>
      <p:sp>
        <p:nvSpPr>
          <p:cNvPr id="7" name="Text 5"/>
          <p:cNvSpPr txBox="1"/>
          <p:nvPr/>
        </p:nvSpPr>
        <p:spPr>
          <a:xfrm>
            <a:off x="594360" y="1655064"/>
            <a:ext cx="3749040" cy="38404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platform has its own site, calendar and rules.</a:t>
            </a:r>
            <a:endParaRPr lang="en-US" sz="1200" dirty="0"/>
          </a:p>
        </p:txBody>
      </p:sp>
      <p:sp>
        <p:nvSpPr>
          <p:cNvPr id="8" name="Shape 6"/>
          <p:cNvSpPr/>
          <p:nvPr/>
        </p:nvSpPr>
        <p:spPr>
          <a:xfrm>
            <a:off x="4526280" y="1691640"/>
            <a:ext cx="182880" cy="0"/>
          </a:xfrm>
          <a:prstGeom prst="line">
            <a:avLst/>
          </a:prstGeom>
          <a:noFill/>
          <a:ln w="25400">
            <a:solidFill>
              <a:schemeClr val="accent5"/>
            </a:solidFill>
            <a:prstDash val="solid"/>
            <a:tailEnd type="triangle"/>
          </a:ln>
        </p:spPr>
      </p:sp>
      <p:sp>
        <p:nvSpPr>
          <p:cNvPr id="9" name="Shape 7"/>
          <p:cNvSpPr/>
          <p:nvPr/>
        </p:nvSpPr>
        <p:spPr>
          <a:xfrm>
            <a:off x="4754880" y="1325880"/>
            <a:ext cx="3931920" cy="731520"/>
          </a:xfrm>
          <a:prstGeom prst="roundRect">
            <a:avLst>
              <a:gd name="adj" fmla="val 10000"/>
            </a:avLst>
          </a:prstGeom>
          <a:solidFill>
            <a:schemeClr val="accent2"/>
          </a:solidFill>
          <a:ln w="12700">
            <a:solidFill>
              <a:schemeClr val="accent2"/>
            </a:solidFill>
            <a:prstDash val="solid"/>
          </a:ln>
        </p:spPr>
      </p:sp>
      <p:sp>
        <p:nvSpPr>
          <p:cNvPr id="10" name="Text 8"/>
          <p:cNvSpPr txBox="1"/>
          <p:nvPr/>
        </p:nvSpPr>
        <p:spPr>
          <a:xfrm>
            <a:off x="4892040" y="1325880"/>
            <a:ext cx="3657600" cy="73152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One dashboard and one calendar for all five platforms.</a:t>
            </a:r>
            <a:endParaRPr lang="en-US" sz="1300" dirty="0"/>
          </a:p>
        </p:txBody>
      </p:sp>
      <p:sp>
        <p:nvSpPr>
          <p:cNvPr id="11" name="Shape 9"/>
          <p:cNvSpPr/>
          <p:nvPr/>
        </p:nvSpPr>
        <p:spPr>
          <a:xfrm>
            <a:off x="457200" y="2148840"/>
            <a:ext cx="4023360" cy="731520"/>
          </a:xfrm>
          <a:prstGeom prst="roundRect">
            <a:avLst>
              <a:gd name="adj" fmla="val 10000"/>
            </a:avLst>
          </a:prstGeom>
          <a:solidFill>
            <a:schemeClr val="bg2"/>
          </a:solidFill>
          <a:ln w="12700">
            <a:solidFill>
              <a:schemeClr val="bg2"/>
            </a:solidFill>
            <a:prstDash val="solid"/>
          </a:ln>
        </p:spPr>
      </p:sp>
      <p:sp>
        <p:nvSpPr>
          <p:cNvPr id="12" name="Text 10"/>
          <p:cNvSpPr txBox="1"/>
          <p:nvPr/>
        </p:nvSpPr>
        <p:spPr>
          <a:xfrm>
            <a:off x="594360" y="2203704"/>
            <a:ext cx="37490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Posts forgotten or late</a:t>
            </a:r>
            <a:endParaRPr lang="en-US" sz="1400" dirty="0"/>
          </a:p>
        </p:txBody>
      </p:sp>
      <p:sp>
        <p:nvSpPr>
          <p:cNvPr id="13" name="Text 11"/>
          <p:cNvSpPr txBox="1"/>
          <p:nvPr/>
        </p:nvSpPr>
        <p:spPr>
          <a:xfrm>
            <a:off x="594360" y="2478024"/>
            <a:ext cx="3749040" cy="38404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Manual posting depends on someone remembering at the right minute.</a:t>
            </a:r>
            <a:endParaRPr lang="en-US" sz="1200" dirty="0"/>
          </a:p>
        </p:txBody>
      </p:sp>
      <p:sp>
        <p:nvSpPr>
          <p:cNvPr id="14" name="Shape 12"/>
          <p:cNvSpPr/>
          <p:nvPr/>
        </p:nvSpPr>
        <p:spPr>
          <a:xfrm>
            <a:off x="4526280" y="2514600"/>
            <a:ext cx="182880" cy="0"/>
          </a:xfrm>
          <a:prstGeom prst="line">
            <a:avLst/>
          </a:prstGeom>
          <a:noFill/>
          <a:ln w="25400">
            <a:solidFill>
              <a:schemeClr val="accent5"/>
            </a:solidFill>
            <a:prstDash val="solid"/>
            <a:tailEnd type="triangle"/>
          </a:ln>
        </p:spPr>
      </p:sp>
      <p:sp>
        <p:nvSpPr>
          <p:cNvPr id="15" name="Shape 13"/>
          <p:cNvSpPr/>
          <p:nvPr/>
        </p:nvSpPr>
        <p:spPr>
          <a:xfrm>
            <a:off x="4754880" y="2148840"/>
            <a:ext cx="3931920" cy="731520"/>
          </a:xfrm>
          <a:prstGeom prst="roundRect">
            <a:avLst>
              <a:gd name="adj" fmla="val 10000"/>
            </a:avLst>
          </a:prstGeom>
          <a:solidFill>
            <a:schemeClr val="accent2"/>
          </a:solidFill>
          <a:ln w="12700">
            <a:solidFill>
              <a:schemeClr val="accent2"/>
            </a:solidFill>
            <a:prstDash val="solid"/>
          </a:ln>
        </p:spPr>
      </p:sp>
      <p:sp>
        <p:nvSpPr>
          <p:cNvPr id="16" name="Text 14"/>
          <p:cNvSpPr txBox="1"/>
          <p:nvPr/>
        </p:nvSpPr>
        <p:spPr>
          <a:xfrm>
            <a:off x="4892040" y="2148840"/>
            <a:ext cx="3657600" cy="73152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Schedule once; a worker publishes on time and retries failures.</a:t>
            </a:r>
            <a:endParaRPr lang="en-US" sz="1300" dirty="0"/>
          </a:p>
        </p:txBody>
      </p:sp>
      <p:sp>
        <p:nvSpPr>
          <p:cNvPr id="17" name="Shape 15"/>
          <p:cNvSpPr/>
          <p:nvPr/>
        </p:nvSpPr>
        <p:spPr>
          <a:xfrm>
            <a:off x="457200" y="2971800"/>
            <a:ext cx="4023360" cy="731520"/>
          </a:xfrm>
          <a:prstGeom prst="roundRect">
            <a:avLst>
              <a:gd name="adj" fmla="val 10000"/>
            </a:avLst>
          </a:prstGeom>
          <a:solidFill>
            <a:schemeClr val="bg2"/>
          </a:solidFill>
          <a:ln w="12700">
            <a:solidFill>
              <a:schemeClr val="bg2"/>
            </a:solidFill>
            <a:prstDash val="solid"/>
          </a:ln>
        </p:spPr>
      </p:sp>
      <p:sp>
        <p:nvSpPr>
          <p:cNvPr id="18" name="Text 16"/>
          <p:cNvSpPr txBox="1"/>
          <p:nvPr/>
        </p:nvSpPr>
        <p:spPr>
          <a:xfrm>
            <a:off x="594360" y="3026664"/>
            <a:ext cx="37490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No approval trail</a:t>
            </a:r>
            <a:endParaRPr lang="en-US" sz="1400" dirty="0"/>
          </a:p>
        </p:txBody>
      </p:sp>
      <p:sp>
        <p:nvSpPr>
          <p:cNvPr id="19" name="Text 17"/>
          <p:cNvSpPr txBox="1"/>
          <p:nvPr/>
        </p:nvSpPr>
        <p:spPr>
          <a:xfrm>
            <a:off x="594360" y="3300984"/>
            <a:ext cx="3749040" cy="38404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Teams cannot tell who reviewed or approved a post.</a:t>
            </a:r>
            <a:endParaRPr lang="en-US" sz="1200" dirty="0"/>
          </a:p>
        </p:txBody>
      </p:sp>
      <p:sp>
        <p:nvSpPr>
          <p:cNvPr id="20" name="Shape 18"/>
          <p:cNvSpPr/>
          <p:nvPr/>
        </p:nvSpPr>
        <p:spPr>
          <a:xfrm>
            <a:off x="4526280" y="3337560"/>
            <a:ext cx="182880" cy="0"/>
          </a:xfrm>
          <a:prstGeom prst="line">
            <a:avLst/>
          </a:prstGeom>
          <a:noFill/>
          <a:ln w="25400">
            <a:solidFill>
              <a:schemeClr val="accent5"/>
            </a:solidFill>
            <a:prstDash val="solid"/>
            <a:tailEnd type="triangle"/>
          </a:ln>
        </p:spPr>
      </p:sp>
      <p:sp>
        <p:nvSpPr>
          <p:cNvPr id="21" name="Shape 19"/>
          <p:cNvSpPr/>
          <p:nvPr/>
        </p:nvSpPr>
        <p:spPr>
          <a:xfrm>
            <a:off x="4754880" y="2971800"/>
            <a:ext cx="3931920" cy="731520"/>
          </a:xfrm>
          <a:prstGeom prst="roundRect">
            <a:avLst>
              <a:gd name="adj" fmla="val 10000"/>
            </a:avLst>
          </a:prstGeom>
          <a:solidFill>
            <a:schemeClr val="accent2"/>
          </a:solidFill>
          <a:ln w="12700">
            <a:solidFill>
              <a:schemeClr val="accent2"/>
            </a:solidFill>
            <a:prstDash val="solid"/>
          </a:ln>
        </p:spPr>
      </p:sp>
      <p:sp>
        <p:nvSpPr>
          <p:cNvPr id="22" name="Text 20"/>
          <p:cNvSpPr txBox="1"/>
          <p:nvPr/>
        </p:nvSpPr>
        <p:spPr>
          <a:xfrm>
            <a:off x="4892040" y="2971800"/>
            <a:ext cx="3657600" cy="73152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Manager review, then creator sign-off, recorded on every revision.</a:t>
            </a:r>
            <a:endParaRPr lang="en-US" sz="1300" dirty="0"/>
          </a:p>
        </p:txBody>
      </p:sp>
      <p:sp>
        <p:nvSpPr>
          <p:cNvPr id="23" name="Shape 21"/>
          <p:cNvSpPr/>
          <p:nvPr/>
        </p:nvSpPr>
        <p:spPr>
          <a:xfrm>
            <a:off x="457200" y="3794760"/>
            <a:ext cx="4023360" cy="731520"/>
          </a:xfrm>
          <a:prstGeom prst="roundRect">
            <a:avLst>
              <a:gd name="adj" fmla="val 10000"/>
            </a:avLst>
          </a:prstGeom>
          <a:solidFill>
            <a:schemeClr val="bg2"/>
          </a:solidFill>
          <a:ln w="12700">
            <a:solidFill>
              <a:schemeClr val="bg2"/>
            </a:solidFill>
            <a:prstDash val="solid"/>
          </a:ln>
        </p:spPr>
      </p:sp>
      <p:sp>
        <p:nvSpPr>
          <p:cNvPr id="24" name="Text 22"/>
          <p:cNvSpPr txBox="1"/>
          <p:nvPr/>
        </p:nvSpPr>
        <p:spPr>
          <a:xfrm>
            <a:off x="594360" y="3849624"/>
            <a:ext cx="37490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Results hard to prove</a:t>
            </a:r>
            <a:endParaRPr lang="en-US" sz="1400" dirty="0"/>
          </a:p>
        </p:txBody>
      </p:sp>
      <p:sp>
        <p:nvSpPr>
          <p:cNvPr id="25" name="Text 23"/>
          <p:cNvSpPr txBox="1"/>
          <p:nvPr/>
        </p:nvSpPr>
        <p:spPr>
          <a:xfrm>
            <a:off x="594360" y="4123944"/>
            <a:ext cx="3749040" cy="384048"/>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Numbers sit in separate apps, so campaign value is unclear.</a:t>
            </a:r>
            <a:endParaRPr lang="en-US" sz="1200" dirty="0"/>
          </a:p>
        </p:txBody>
      </p:sp>
      <p:sp>
        <p:nvSpPr>
          <p:cNvPr id="26" name="Shape 24"/>
          <p:cNvSpPr/>
          <p:nvPr/>
        </p:nvSpPr>
        <p:spPr>
          <a:xfrm>
            <a:off x="4526280" y="4160520"/>
            <a:ext cx="182880" cy="0"/>
          </a:xfrm>
          <a:prstGeom prst="line">
            <a:avLst/>
          </a:prstGeom>
          <a:noFill/>
          <a:ln w="25400">
            <a:solidFill>
              <a:schemeClr val="accent5"/>
            </a:solidFill>
            <a:prstDash val="solid"/>
            <a:tailEnd type="triangle"/>
          </a:ln>
        </p:spPr>
      </p:sp>
      <p:sp>
        <p:nvSpPr>
          <p:cNvPr id="27" name="Shape 25"/>
          <p:cNvSpPr/>
          <p:nvPr/>
        </p:nvSpPr>
        <p:spPr>
          <a:xfrm>
            <a:off x="4754880" y="3794760"/>
            <a:ext cx="3931920" cy="731520"/>
          </a:xfrm>
          <a:prstGeom prst="roundRect">
            <a:avLst>
              <a:gd name="adj" fmla="val 10000"/>
            </a:avLst>
          </a:prstGeom>
          <a:solidFill>
            <a:schemeClr val="accent2"/>
          </a:solidFill>
          <a:ln w="12700">
            <a:solidFill>
              <a:schemeClr val="accent2"/>
            </a:solidFill>
            <a:prstDash val="solid"/>
          </a:ln>
        </p:spPr>
      </p:sp>
      <p:sp>
        <p:nvSpPr>
          <p:cNvPr id="28" name="Text 26"/>
          <p:cNvSpPr txBox="1"/>
          <p:nvPr/>
        </p:nvSpPr>
        <p:spPr>
          <a:xfrm>
            <a:off x="4892040" y="3794760"/>
            <a:ext cx="3657600" cy="73152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Campaigns, analytics, ROI and PDF or Excel reports in one place.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One dashboard for every social channel</a:t>
            </a:r>
            <a:endParaRPr lang="en-US" sz="3000" dirty="0"/>
          </a:p>
        </p:txBody>
      </p:sp>
      <p:sp>
        <p:nvSpPr>
          <p:cNvPr id="3" name="Shape 1"/>
          <p:cNvSpPr/>
          <p:nvPr/>
        </p:nvSpPr>
        <p:spPr>
          <a:xfrm>
            <a:off x="457200" y="1143000"/>
            <a:ext cx="640080" cy="640080"/>
          </a:xfrm>
          <a:prstGeom prst="ellipse">
            <a:avLst/>
          </a:prstGeom>
          <a:solidFill>
            <a:schemeClr val="accent2"/>
          </a:solidFill>
          <a:ln w="12700">
            <a:solidFill>
              <a:schemeClr val="accent2"/>
            </a:solidFill>
            <a:prstDash val="solid"/>
          </a:ln>
        </p:spPr>
      </p:sp>
      <p:pic>
        <p:nvPicPr>
          <p:cNvPr id="4" name="Image 0" descr="preencoded.png">    </p:cNvPr>
          <p:cNvPicPr>
            <a:picLocks noChangeAspect="1"/>
          </p:cNvPicPr>
          <p:nvPr/>
        </p:nvPicPr>
        <p:blipFill>
          <a:blip r:embed="rId1"/>
          <a:stretch>
            <a:fillRect/>
          </a:stretch>
        </p:blipFill>
        <p:spPr>
          <a:xfrm>
            <a:off x="630022" y="1315822"/>
            <a:ext cx="294437" cy="294437"/>
          </a:xfrm>
          <a:prstGeom prst="rect">
            <a:avLst/>
          </a:prstGeom>
        </p:spPr>
      </p:pic>
      <p:sp>
        <p:nvSpPr>
          <p:cNvPr id="5" name="Text 2"/>
          <p:cNvSpPr txBox="1"/>
          <p:nvPr/>
        </p:nvSpPr>
        <p:spPr>
          <a:xfrm>
            <a:off x="1280160" y="1143000"/>
            <a:ext cx="3474720" cy="2743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What</a:t>
            </a:r>
            <a:endParaRPr lang="en-US" sz="1800" dirty="0"/>
          </a:p>
        </p:txBody>
      </p:sp>
      <p:sp>
        <p:nvSpPr>
          <p:cNvPr id="6" name="Text 3"/>
          <p:cNvSpPr txBox="1"/>
          <p:nvPr/>
        </p:nvSpPr>
        <p:spPr>
          <a:xfrm>
            <a:off x="1280160" y="1435608"/>
            <a:ext cx="35661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Schedule, publish and measure content across Facebook, Instagram, LinkedIn, X and YouTube from one place.</a:t>
            </a:r>
            <a:endParaRPr lang="en-US" sz="1400" dirty="0"/>
          </a:p>
        </p:txBody>
      </p:sp>
      <p:sp>
        <p:nvSpPr>
          <p:cNvPr id="7" name="Shape 4"/>
          <p:cNvSpPr/>
          <p:nvPr/>
        </p:nvSpPr>
        <p:spPr>
          <a:xfrm>
            <a:off x="457200" y="2286000"/>
            <a:ext cx="640080" cy="64008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630022" y="2458822"/>
            <a:ext cx="294437" cy="294437"/>
          </a:xfrm>
          <a:prstGeom prst="rect">
            <a:avLst/>
          </a:prstGeom>
        </p:spPr>
      </p:pic>
      <p:sp>
        <p:nvSpPr>
          <p:cNvPr id="9" name="Text 5"/>
          <p:cNvSpPr txBox="1"/>
          <p:nvPr/>
        </p:nvSpPr>
        <p:spPr>
          <a:xfrm>
            <a:off x="1280160" y="2286000"/>
            <a:ext cx="3474720" cy="2743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Who</a:t>
            </a:r>
            <a:endParaRPr lang="en-US" sz="1800" dirty="0"/>
          </a:p>
        </p:txBody>
      </p:sp>
      <p:sp>
        <p:nvSpPr>
          <p:cNvPr id="10" name="Text 6"/>
          <p:cNvSpPr txBox="1"/>
          <p:nvPr/>
        </p:nvSpPr>
        <p:spPr>
          <a:xfrm>
            <a:off x="1280160" y="2578608"/>
            <a:ext cx="35661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Content creators, agencies, startups, businesses and marketing teams working together.</a:t>
            </a:r>
            <a:endParaRPr lang="en-US" sz="1400" dirty="0"/>
          </a:p>
        </p:txBody>
      </p:sp>
      <p:sp>
        <p:nvSpPr>
          <p:cNvPr id="11" name="Shape 7"/>
          <p:cNvSpPr/>
          <p:nvPr/>
        </p:nvSpPr>
        <p:spPr>
          <a:xfrm>
            <a:off x="457200" y="3429000"/>
            <a:ext cx="640080" cy="640080"/>
          </a:xfrm>
          <a:prstGeom prst="ellipse">
            <a:avLst/>
          </a:prstGeom>
          <a:solidFill>
            <a:schemeClr val="accent2"/>
          </a:solidFill>
          <a:ln w="12700">
            <a:solidFill>
              <a:schemeClr val="accent2"/>
            </a:solidFill>
            <a:prstDash val="solid"/>
          </a:ln>
        </p:spPr>
      </p:sp>
      <p:pic>
        <p:nvPicPr>
          <p:cNvPr id="12" name="Image 2" descr="preencoded.png">    </p:cNvPr>
          <p:cNvPicPr>
            <a:picLocks noChangeAspect="1"/>
          </p:cNvPicPr>
          <p:nvPr/>
        </p:nvPicPr>
        <p:blipFill>
          <a:blip r:embed="rId3"/>
          <a:stretch>
            <a:fillRect/>
          </a:stretch>
        </p:blipFill>
        <p:spPr>
          <a:xfrm>
            <a:off x="630022" y="3601822"/>
            <a:ext cx="294437" cy="294437"/>
          </a:xfrm>
          <a:prstGeom prst="rect">
            <a:avLst/>
          </a:prstGeom>
        </p:spPr>
      </p:pic>
      <p:sp>
        <p:nvSpPr>
          <p:cNvPr id="13" name="Text 8"/>
          <p:cNvSpPr txBox="1"/>
          <p:nvPr/>
        </p:nvSpPr>
        <p:spPr>
          <a:xfrm>
            <a:off x="1280160" y="3429000"/>
            <a:ext cx="3474720" cy="2743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Why</a:t>
            </a:r>
            <a:endParaRPr lang="en-US" sz="1800" dirty="0"/>
          </a:p>
        </p:txBody>
      </p:sp>
      <p:sp>
        <p:nvSpPr>
          <p:cNvPr id="14" name="Text 9"/>
          <p:cNvSpPr txBox="1"/>
          <p:nvPr/>
        </p:nvSpPr>
        <p:spPr>
          <a:xfrm>
            <a:off x="1280160" y="3721608"/>
            <a:ext cx="35661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Cut manual posting effort and show which content and campaigns actually perform.</a:t>
            </a:r>
            <a:endParaRPr lang="en-US" sz="1400" dirty="0"/>
          </a:p>
        </p:txBody>
      </p:sp>
      <p:sp>
        <p:nvSpPr>
          <p:cNvPr id="15" name="Shape 10"/>
          <p:cNvSpPr/>
          <p:nvPr/>
        </p:nvSpPr>
        <p:spPr>
          <a:xfrm>
            <a:off x="5257800" y="1143000"/>
            <a:ext cx="1691640" cy="1508760"/>
          </a:xfrm>
          <a:prstGeom prst="roundRect">
            <a:avLst>
              <a:gd name="adj" fmla="val 4848"/>
            </a:avLst>
          </a:prstGeom>
          <a:solidFill>
            <a:schemeClr val="bg2"/>
          </a:solidFill>
          <a:ln w="12700">
            <a:solidFill>
              <a:schemeClr val="bg2"/>
            </a:solidFill>
            <a:prstDash val="solid"/>
          </a:ln>
        </p:spPr>
      </p:sp>
      <p:sp>
        <p:nvSpPr>
          <p:cNvPr id="16" name="Text 11"/>
          <p:cNvSpPr txBox="1"/>
          <p:nvPr/>
        </p:nvSpPr>
        <p:spPr>
          <a:xfrm>
            <a:off x="5257800" y="1280160"/>
            <a:ext cx="1691640" cy="73152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a:t>
            </a:r>
            <a:endParaRPr lang="en-US" sz="4400" dirty="0"/>
          </a:p>
        </p:txBody>
      </p:sp>
      <p:sp>
        <p:nvSpPr>
          <p:cNvPr id="17" name="Text 12"/>
          <p:cNvSpPr txBox="1"/>
          <p:nvPr/>
        </p:nvSpPr>
        <p:spPr>
          <a:xfrm>
            <a:off x="5257800" y="2011680"/>
            <a:ext cx="16916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user roles,</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per workspace</a:t>
            </a:r>
            <a:endParaRPr lang="en-US" sz="1200" dirty="0"/>
          </a:p>
        </p:txBody>
      </p:sp>
      <p:sp>
        <p:nvSpPr>
          <p:cNvPr id="18" name="Shape 13"/>
          <p:cNvSpPr/>
          <p:nvPr/>
        </p:nvSpPr>
        <p:spPr>
          <a:xfrm>
            <a:off x="7086600" y="1143000"/>
            <a:ext cx="1691640" cy="1508760"/>
          </a:xfrm>
          <a:prstGeom prst="roundRect">
            <a:avLst>
              <a:gd name="adj" fmla="val 4848"/>
            </a:avLst>
          </a:prstGeom>
          <a:solidFill>
            <a:schemeClr val="bg2"/>
          </a:solidFill>
          <a:ln w="12700">
            <a:solidFill>
              <a:schemeClr val="bg2"/>
            </a:solidFill>
            <a:prstDash val="solid"/>
          </a:ln>
        </p:spPr>
      </p:sp>
      <p:sp>
        <p:nvSpPr>
          <p:cNvPr id="19" name="Text 14"/>
          <p:cNvSpPr txBox="1"/>
          <p:nvPr/>
        </p:nvSpPr>
        <p:spPr>
          <a:xfrm>
            <a:off x="7086600" y="1280160"/>
            <a:ext cx="1691640" cy="73152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9</a:t>
            </a:r>
            <a:endParaRPr lang="en-US" sz="4400" dirty="0"/>
          </a:p>
        </p:txBody>
      </p:sp>
      <p:sp>
        <p:nvSpPr>
          <p:cNvPr id="20" name="Text 15"/>
          <p:cNvSpPr txBox="1"/>
          <p:nvPr/>
        </p:nvSpPr>
        <p:spPr>
          <a:xfrm>
            <a:off x="7086600" y="2011680"/>
            <a:ext cx="16916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modules in</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the brief</a:t>
            </a:r>
            <a:endParaRPr lang="en-US" sz="1200" dirty="0"/>
          </a:p>
        </p:txBody>
      </p:sp>
      <p:sp>
        <p:nvSpPr>
          <p:cNvPr id="21" name="Shape 16"/>
          <p:cNvSpPr/>
          <p:nvPr/>
        </p:nvSpPr>
        <p:spPr>
          <a:xfrm>
            <a:off x="5257800" y="2834640"/>
            <a:ext cx="1691640" cy="1508760"/>
          </a:xfrm>
          <a:prstGeom prst="roundRect">
            <a:avLst>
              <a:gd name="adj" fmla="val 4848"/>
            </a:avLst>
          </a:prstGeom>
          <a:solidFill>
            <a:schemeClr val="bg2"/>
          </a:solidFill>
          <a:ln w="12700">
            <a:solidFill>
              <a:schemeClr val="bg2"/>
            </a:solidFill>
            <a:prstDash val="solid"/>
          </a:ln>
        </p:spPr>
      </p:sp>
      <p:sp>
        <p:nvSpPr>
          <p:cNvPr id="22" name="Text 17"/>
          <p:cNvSpPr txBox="1"/>
          <p:nvPr/>
        </p:nvSpPr>
        <p:spPr>
          <a:xfrm>
            <a:off x="5257800" y="2971800"/>
            <a:ext cx="1691640" cy="73152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a:t>
            </a:r>
            <a:endParaRPr lang="en-US" sz="4400" dirty="0"/>
          </a:p>
        </p:txBody>
      </p:sp>
      <p:sp>
        <p:nvSpPr>
          <p:cNvPr id="23" name="Text 18"/>
          <p:cNvSpPr txBox="1"/>
          <p:nvPr/>
        </p:nvSpPr>
        <p:spPr>
          <a:xfrm>
            <a:off x="5257800" y="3703320"/>
            <a:ext cx="16916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platform</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adapters</a:t>
            </a:r>
            <a:endParaRPr lang="en-US" sz="1200" dirty="0"/>
          </a:p>
        </p:txBody>
      </p:sp>
      <p:sp>
        <p:nvSpPr>
          <p:cNvPr id="24" name="Shape 19"/>
          <p:cNvSpPr/>
          <p:nvPr/>
        </p:nvSpPr>
        <p:spPr>
          <a:xfrm>
            <a:off x="7086600" y="2834640"/>
            <a:ext cx="1691640" cy="1508760"/>
          </a:xfrm>
          <a:prstGeom prst="roundRect">
            <a:avLst>
              <a:gd name="adj" fmla="val 4848"/>
            </a:avLst>
          </a:prstGeom>
          <a:solidFill>
            <a:schemeClr val="bg2"/>
          </a:solidFill>
          <a:ln w="12700">
            <a:solidFill>
              <a:schemeClr val="bg2"/>
            </a:solidFill>
            <a:prstDash val="solid"/>
          </a:ln>
        </p:spPr>
      </p:sp>
      <p:sp>
        <p:nvSpPr>
          <p:cNvPr id="25" name="Text 20"/>
          <p:cNvSpPr txBox="1"/>
          <p:nvPr/>
        </p:nvSpPr>
        <p:spPr>
          <a:xfrm>
            <a:off x="7086600" y="2971800"/>
            <a:ext cx="1691640" cy="73152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161</a:t>
            </a:r>
            <a:endParaRPr lang="en-US" sz="4400" dirty="0"/>
          </a:p>
        </p:txBody>
      </p:sp>
      <p:sp>
        <p:nvSpPr>
          <p:cNvPr id="26" name="Text 21"/>
          <p:cNvSpPr txBox="1"/>
          <p:nvPr/>
        </p:nvSpPr>
        <p:spPr>
          <a:xfrm>
            <a:off x="7086600" y="3703320"/>
            <a:ext cx="169164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automated tests</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(139 + 22)</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we created: the app at a glance</a:t>
            </a:r>
            <a:endParaRPr lang="en-US" sz="3000" dirty="0"/>
          </a:p>
        </p:txBody>
      </p:sp>
      <p:sp>
        <p:nvSpPr>
          <p:cNvPr id="3" name="Shape 1"/>
          <p:cNvSpPr/>
          <p:nvPr/>
        </p:nvSpPr>
        <p:spPr>
          <a:xfrm>
            <a:off x="457200" y="1097280"/>
            <a:ext cx="1965960" cy="1645920"/>
          </a:xfrm>
          <a:prstGeom prst="roundRect">
            <a:avLst>
              <a:gd name="adj" fmla="val 4444"/>
            </a:avLst>
          </a:prstGeom>
          <a:solidFill>
            <a:schemeClr val="bg2"/>
          </a:solidFill>
          <a:ln w="12700">
            <a:solidFill>
              <a:schemeClr val="bg2"/>
            </a:solidFill>
            <a:prstDash val="solid"/>
          </a:ln>
        </p:spPr>
      </p:sp>
      <p:sp>
        <p:nvSpPr>
          <p:cNvPr id="4" name="Shape 2"/>
          <p:cNvSpPr/>
          <p:nvPr/>
        </p:nvSpPr>
        <p:spPr>
          <a:xfrm>
            <a:off x="594360" y="1234440"/>
            <a:ext cx="502920" cy="50292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730148" y="1370228"/>
            <a:ext cx="231343" cy="231343"/>
          </a:xfrm>
          <a:prstGeom prst="rect">
            <a:avLst/>
          </a:prstGeom>
        </p:spPr>
      </p:pic>
      <p:sp>
        <p:nvSpPr>
          <p:cNvPr id="6" name="Text 3"/>
          <p:cNvSpPr txBox="1"/>
          <p:nvPr/>
        </p:nvSpPr>
        <p:spPr>
          <a:xfrm>
            <a:off x="594360" y="182880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Dashboard</a:t>
            </a:r>
            <a:endParaRPr lang="en-US" sz="1400" dirty="0"/>
          </a:p>
        </p:txBody>
      </p:sp>
      <p:sp>
        <p:nvSpPr>
          <p:cNvPr id="7" name="Text 4"/>
          <p:cNvSpPr txBox="1"/>
          <p:nvPr/>
        </p:nvSpPr>
        <p:spPr>
          <a:xfrm>
            <a:off x="594360" y="212140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Posts, campaigns and performance in one view</a:t>
            </a:r>
            <a:endParaRPr lang="en-US" sz="1100" dirty="0"/>
          </a:p>
        </p:txBody>
      </p:sp>
      <p:sp>
        <p:nvSpPr>
          <p:cNvPr id="8" name="Shape 5"/>
          <p:cNvSpPr/>
          <p:nvPr/>
        </p:nvSpPr>
        <p:spPr>
          <a:xfrm>
            <a:off x="2542032" y="1097280"/>
            <a:ext cx="1965960" cy="1645920"/>
          </a:xfrm>
          <a:prstGeom prst="roundRect">
            <a:avLst>
              <a:gd name="adj" fmla="val 4444"/>
            </a:avLst>
          </a:prstGeom>
          <a:solidFill>
            <a:schemeClr val="bg2"/>
          </a:solidFill>
          <a:ln w="12700">
            <a:solidFill>
              <a:schemeClr val="bg2"/>
            </a:solidFill>
            <a:prstDash val="solid"/>
          </a:ln>
        </p:spPr>
      </p:sp>
      <p:sp>
        <p:nvSpPr>
          <p:cNvPr id="9" name="Shape 6"/>
          <p:cNvSpPr/>
          <p:nvPr/>
        </p:nvSpPr>
        <p:spPr>
          <a:xfrm>
            <a:off x="2679192" y="1234440"/>
            <a:ext cx="502920" cy="502920"/>
          </a:xfrm>
          <a:prstGeom prst="ellipse">
            <a:avLst/>
          </a:prstGeom>
          <a:solidFill>
            <a:schemeClr val="accent4"/>
          </a:solidFill>
          <a:ln w="12700">
            <a:solidFill>
              <a:schemeClr val="accent4"/>
            </a:solidFill>
            <a:prstDash val="solid"/>
          </a:ln>
        </p:spPr>
      </p:sp>
      <p:pic>
        <p:nvPicPr>
          <p:cNvPr id="10" name="Image 1" descr="preencoded.png">    </p:cNvPr>
          <p:cNvPicPr>
            <a:picLocks noChangeAspect="1"/>
          </p:cNvPicPr>
          <p:nvPr/>
        </p:nvPicPr>
        <p:blipFill>
          <a:blip r:embed="rId2"/>
          <a:stretch>
            <a:fillRect/>
          </a:stretch>
        </p:blipFill>
        <p:spPr>
          <a:xfrm>
            <a:off x="2814980" y="1370228"/>
            <a:ext cx="231343" cy="231343"/>
          </a:xfrm>
          <a:prstGeom prst="rect">
            <a:avLst/>
          </a:prstGeom>
        </p:spPr>
      </p:pic>
      <p:sp>
        <p:nvSpPr>
          <p:cNvPr id="11" name="Text 7"/>
          <p:cNvSpPr txBox="1"/>
          <p:nvPr/>
        </p:nvSpPr>
        <p:spPr>
          <a:xfrm>
            <a:off x="2679192" y="182880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Social Accounts</a:t>
            </a:r>
            <a:endParaRPr lang="en-US" sz="1400" dirty="0"/>
          </a:p>
        </p:txBody>
      </p:sp>
      <p:sp>
        <p:nvSpPr>
          <p:cNvPr id="12" name="Text 8"/>
          <p:cNvSpPr txBox="1"/>
          <p:nvPr/>
        </p:nvSpPr>
        <p:spPr>
          <a:xfrm>
            <a:off x="2679192" y="212140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Connect Facebook, Instagram, LinkedIn, X, YouTube</a:t>
            </a:r>
            <a:endParaRPr lang="en-US" sz="1100" dirty="0"/>
          </a:p>
        </p:txBody>
      </p:sp>
      <p:sp>
        <p:nvSpPr>
          <p:cNvPr id="13" name="Shape 9"/>
          <p:cNvSpPr/>
          <p:nvPr/>
        </p:nvSpPr>
        <p:spPr>
          <a:xfrm>
            <a:off x="4626864" y="1097280"/>
            <a:ext cx="1965960" cy="1645920"/>
          </a:xfrm>
          <a:prstGeom prst="roundRect">
            <a:avLst>
              <a:gd name="adj" fmla="val 4444"/>
            </a:avLst>
          </a:prstGeom>
          <a:solidFill>
            <a:schemeClr val="bg2"/>
          </a:solidFill>
          <a:ln w="12700">
            <a:solidFill>
              <a:schemeClr val="bg2"/>
            </a:solidFill>
            <a:prstDash val="solid"/>
          </a:ln>
        </p:spPr>
      </p:sp>
      <p:sp>
        <p:nvSpPr>
          <p:cNvPr id="14" name="Shape 10"/>
          <p:cNvSpPr/>
          <p:nvPr/>
        </p:nvSpPr>
        <p:spPr>
          <a:xfrm>
            <a:off x="4764024" y="1234440"/>
            <a:ext cx="502920" cy="502920"/>
          </a:xfrm>
          <a:prstGeom prst="ellipse">
            <a:avLst/>
          </a:prstGeom>
          <a:solidFill>
            <a:schemeClr val="accent5"/>
          </a:solidFill>
          <a:ln w="12700">
            <a:solidFill>
              <a:schemeClr val="accent5"/>
            </a:solidFill>
            <a:prstDash val="solid"/>
          </a:ln>
        </p:spPr>
      </p:sp>
      <p:pic>
        <p:nvPicPr>
          <p:cNvPr id="15" name="Image 2" descr="preencoded.png">    </p:cNvPr>
          <p:cNvPicPr>
            <a:picLocks noChangeAspect="1"/>
          </p:cNvPicPr>
          <p:nvPr/>
        </p:nvPicPr>
        <p:blipFill>
          <a:blip r:embed="rId3"/>
          <a:stretch>
            <a:fillRect/>
          </a:stretch>
        </p:blipFill>
        <p:spPr>
          <a:xfrm>
            <a:off x="4899812" y="1370228"/>
            <a:ext cx="231343" cy="231343"/>
          </a:xfrm>
          <a:prstGeom prst="rect">
            <a:avLst/>
          </a:prstGeom>
        </p:spPr>
      </p:pic>
      <p:sp>
        <p:nvSpPr>
          <p:cNvPr id="16" name="Text 11"/>
          <p:cNvSpPr txBox="1"/>
          <p:nvPr/>
        </p:nvSpPr>
        <p:spPr>
          <a:xfrm>
            <a:off x="4764024" y="182880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Posts and Drafts</a:t>
            </a:r>
            <a:endParaRPr lang="en-US" sz="1400" dirty="0"/>
          </a:p>
        </p:txBody>
      </p:sp>
      <p:sp>
        <p:nvSpPr>
          <p:cNvPr id="17" name="Text 12"/>
          <p:cNvSpPr txBox="1"/>
          <p:nvPr/>
        </p:nvSpPr>
        <p:spPr>
          <a:xfrm>
            <a:off x="4764024" y="212140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Write once, pick accounts, preview</a:t>
            </a:r>
            <a:endParaRPr lang="en-US" sz="1100" dirty="0"/>
          </a:p>
        </p:txBody>
      </p:sp>
      <p:sp>
        <p:nvSpPr>
          <p:cNvPr id="18" name="Shape 13"/>
          <p:cNvSpPr/>
          <p:nvPr/>
        </p:nvSpPr>
        <p:spPr>
          <a:xfrm>
            <a:off x="6711696" y="1097280"/>
            <a:ext cx="1965960" cy="1645920"/>
          </a:xfrm>
          <a:prstGeom prst="roundRect">
            <a:avLst>
              <a:gd name="adj" fmla="val 4444"/>
            </a:avLst>
          </a:prstGeom>
          <a:solidFill>
            <a:schemeClr val="bg2"/>
          </a:solidFill>
          <a:ln w="12700">
            <a:solidFill>
              <a:schemeClr val="bg2"/>
            </a:solidFill>
            <a:prstDash val="solid"/>
          </a:ln>
        </p:spPr>
      </p:sp>
      <p:sp>
        <p:nvSpPr>
          <p:cNvPr id="19" name="Shape 14"/>
          <p:cNvSpPr/>
          <p:nvPr/>
        </p:nvSpPr>
        <p:spPr>
          <a:xfrm>
            <a:off x="6848856" y="1234440"/>
            <a:ext cx="502920" cy="502920"/>
          </a:xfrm>
          <a:prstGeom prst="ellipse">
            <a:avLst/>
          </a:prstGeom>
          <a:solidFill>
            <a:schemeClr val="accent2"/>
          </a:solidFill>
          <a:ln w="12700">
            <a:solidFill>
              <a:schemeClr val="accent2"/>
            </a:solidFill>
            <a:prstDash val="solid"/>
          </a:ln>
        </p:spPr>
      </p:sp>
      <p:pic>
        <p:nvPicPr>
          <p:cNvPr id="20" name="Image 3" descr="preencoded.png">    </p:cNvPr>
          <p:cNvPicPr>
            <a:picLocks noChangeAspect="1"/>
          </p:cNvPicPr>
          <p:nvPr/>
        </p:nvPicPr>
        <p:blipFill>
          <a:blip r:embed="rId4"/>
          <a:stretch>
            <a:fillRect/>
          </a:stretch>
        </p:blipFill>
        <p:spPr>
          <a:xfrm>
            <a:off x="6984644" y="1370228"/>
            <a:ext cx="231343" cy="231343"/>
          </a:xfrm>
          <a:prstGeom prst="rect">
            <a:avLst/>
          </a:prstGeom>
        </p:spPr>
      </p:pic>
      <p:sp>
        <p:nvSpPr>
          <p:cNvPr id="21" name="Text 15"/>
          <p:cNvSpPr txBox="1"/>
          <p:nvPr/>
        </p:nvSpPr>
        <p:spPr>
          <a:xfrm>
            <a:off x="6848856" y="182880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Scheduling</a:t>
            </a:r>
            <a:endParaRPr lang="en-US" sz="1400" dirty="0"/>
          </a:p>
        </p:txBody>
      </p:sp>
      <p:sp>
        <p:nvSpPr>
          <p:cNvPr id="22" name="Text 16"/>
          <p:cNvSpPr txBox="1"/>
          <p:nvPr/>
        </p:nvSpPr>
        <p:spPr>
          <a:xfrm>
            <a:off x="6848856" y="212140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Calendar, timezone, recurring posts, queue</a:t>
            </a:r>
            <a:endParaRPr lang="en-US" sz="1100" dirty="0"/>
          </a:p>
        </p:txBody>
      </p:sp>
      <p:sp>
        <p:nvSpPr>
          <p:cNvPr id="23" name="Shape 17"/>
          <p:cNvSpPr/>
          <p:nvPr/>
        </p:nvSpPr>
        <p:spPr>
          <a:xfrm>
            <a:off x="457200" y="2880360"/>
            <a:ext cx="1965960" cy="1645920"/>
          </a:xfrm>
          <a:prstGeom prst="roundRect">
            <a:avLst>
              <a:gd name="adj" fmla="val 4444"/>
            </a:avLst>
          </a:prstGeom>
          <a:solidFill>
            <a:schemeClr val="bg2"/>
          </a:solidFill>
          <a:ln w="12700">
            <a:solidFill>
              <a:schemeClr val="bg2"/>
            </a:solidFill>
            <a:prstDash val="solid"/>
          </a:ln>
        </p:spPr>
      </p:sp>
      <p:sp>
        <p:nvSpPr>
          <p:cNvPr id="24" name="Shape 18"/>
          <p:cNvSpPr/>
          <p:nvPr/>
        </p:nvSpPr>
        <p:spPr>
          <a:xfrm>
            <a:off x="594360" y="3017520"/>
            <a:ext cx="502920" cy="502920"/>
          </a:xfrm>
          <a:prstGeom prst="ellipse">
            <a:avLst/>
          </a:prstGeom>
          <a:solidFill>
            <a:schemeClr val="accent3"/>
          </a:solidFill>
          <a:ln w="12700">
            <a:solidFill>
              <a:schemeClr val="accent3"/>
            </a:solidFill>
            <a:prstDash val="solid"/>
          </a:ln>
        </p:spPr>
      </p:sp>
      <p:pic>
        <p:nvPicPr>
          <p:cNvPr id="25" name="Image 4" descr="preencoded.png">    </p:cNvPr>
          <p:cNvPicPr>
            <a:picLocks noChangeAspect="1"/>
          </p:cNvPicPr>
          <p:nvPr/>
        </p:nvPicPr>
        <p:blipFill>
          <a:blip r:embed="rId5"/>
          <a:stretch>
            <a:fillRect/>
          </a:stretch>
        </p:blipFill>
        <p:spPr>
          <a:xfrm>
            <a:off x="730148" y="3153308"/>
            <a:ext cx="231343" cy="231343"/>
          </a:xfrm>
          <a:prstGeom prst="rect">
            <a:avLst/>
          </a:prstGeom>
        </p:spPr>
      </p:pic>
      <p:sp>
        <p:nvSpPr>
          <p:cNvPr id="26" name="Text 19"/>
          <p:cNvSpPr txBox="1"/>
          <p:nvPr/>
        </p:nvSpPr>
        <p:spPr>
          <a:xfrm>
            <a:off x="594360" y="361188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Approvals</a:t>
            </a:r>
            <a:endParaRPr lang="en-US" sz="1400" dirty="0"/>
          </a:p>
        </p:txBody>
      </p:sp>
      <p:sp>
        <p:nvSpPr>
          <p:cNvPr id="27" name="Text 20"/>
          <p:cNvSpPr txBox="1"/>
          <p:nvPr/>
        </p:nvSpPr>
        <p:spPr>
          <a:xfrm>
            <a:off x="594360" y="390448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Manager review, then creator sign-off</a:t>
            </a:r>
            <a:endParaRPr lang="en-US" sz="1100" dirty="0"/>
          </a:p>
        </p:txBody>
      </p:sp>
      <p:sp>
        <p:nvSpPr>
          <p:cNvPr id="28" name="Shape 21"/>
          <p:cNvSpPr/>
          <p:nvPr/>
        </p:nvSpPr>
        <p:spPr>
          <a:xfrm>
            <a:off x="2542032" y="2880360"/>
            <a:ext cx="1965960" cy="1645920"/>
          </a:xfrm>
          <a:prstGeom prst="roundRect">
            <a:avLst>
              <a:gd name="adj" fmla="val 4444"/>
            </a:avLst>
          </a:prstGeom>
          <a:solidFill>
            <a:schemeClr val="bg2"/>
          </a:solidFill>
          <a:ln w="12700">
            <a:solidFill>
              <a:schemeClr val="bg2"/>
            </a:solidFill>
            <a:prstDash val="solid"/>
          </a:ln>
        </p:spPr>
      </p:sp>
      <p:sp>
        <p:nvSpPr>
          <p:cNvPr id="29" name="Shape 22"/>
          <p:cNvSpPr/>
          <p:nvPr/>
        </p:nvSpPr>
        <p:spPr>
          <a:xfrm>
            <a:off x="2679192" y="3017520"/>
            <a:ext cx="502920" cy="50292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2814980" y="3153308"/>
            <a:ext cx="231343" cy="231343"/>
          </a:xfrm>
          <a:prstGeom prst="rect">
            <a:avLst/>
          </a:prstGeom>
        </p:spPr>
      </p:pic>
      <p:sp>
        <p:nvSpPr>
          <p:cNvPr id="31" name="Text 23"/>
          <p:cNvSpPr txBox="1"/>
          <p:nvPr/>
        </p:nvSpPr>
        <p:spPr>
          <a:xfrm>
            <a:off x="2679192" y="361188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Campaigns</a:t>
            </a:r>
            <a:endParaRPr lang="en-US" sz="1400" dirty="0"/>
          </a:p>
        </p:txBody>
      </p:sp>
      <p:sp>
        <p:nvSpPr>
          <p:cNvPr id="32" name="Text 24"/>
          <p:cNvSpPr txBox="1"/>
          <p:nvPr/>
        </p:nvSpPr>
        <p:spPr>
          <a:xfrm>
            <a:off x="2679192" y="390448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Budget, dates, objectives, grouped posts</a:t>
            </a:r>
            <a:endParaRPr lang="en-US" sz="1100" dirty="0"/>
          </a:p>
        </p:txBody>
      </p:sp>
      <p:sp>
        <p:nvSpPr>
          <p:cNvPr id="33" name="Shape 25"/>
          <p:cNvSpPr/>
          <p:nvPr/>
        </p:nvSpPr>
        <p:spPr>
          <a:xfrm>
            <a:off x="4626864" y="2880360"/>
            <a:ext cx="1965960" cy="1645920"/>
          </a:xfrm>
          <a:prstGeom prst="roundRect">
            <a:avLst>
              <a:gd name="adj" fmla="val 4444"/>
            </a:avLst>
          </a:prstGeom>
          <a:solidFill>
            <a:schemeClr val="bg2"/>
          </a:solidFill>
          <a:ln w="12700">
            <a:solidFill>
              <a:schemeClr val="bg2"/>
            </a:solidFill>
            <a:prstDash val="solid"/>
          </a:ln>
        </p:spPr>
      </p:sp>
      <p:sp>
        <p:nvSpPr>
          <p:cNvPr id="34" name="Shape 26"/>
          <p:cNvSpPr/>
          <p:nvPr/>
        </p:nvSpPr>
        <p:spPr>
          <a:xfrm>
            <a:off x="4764024" y="3017520"/>
            <a:ext cx="502920" cy="502920"/>
          </a:xfrm>
          <a:prstGeom prst="ellipse">
            <a:avLst/>
          </a:prstGeom>
          <a:solidFill>
            <a:schemeClr val="accent6"/>
          </a:solidFill>
          <a:ln w="12700">
            <a:solidFill>
              <a:schemeClr val="accent6"/>
            </a:solidFill>
            <a:prstDash val="solid"/>
          </a:ln>
        </p:spPr>
      </p:sp>
      <p:pic>
        <p:nvPicPr>
          <p:cNvPr id="35" name="Image 6" descr="preencoded.png">    </p:cNvPr>
          <p:cNvPicPr>
            <a:picLocks noChangeAspect="1"/>
          </p:cNvPicPr>
          <p:nvPr/>
        </p:nvPicPr>
        <p:blipFill>
          <a:blip r:embed="rId7"/>
          <a:stretch>
            <a:fillRect/>
          </a:stretch>
        </p:blipFill>
        <p:spPr>
          <a:xfrm>
            <a:off x="4899812" y="3153308"/>
            <a:ext cx="231343" cy="231343"/>
          </a:xfrm>
          <a:prstGeom prst="rect">
            <a:avLst/>
          </a:prstGeom>
        </p:spPr>
      </p:pic>
      <p:sp>
        <p:nvSpPr>
          <p:cNvPr id="36" name="Text 27"/>
          <p:cNvSpPr txBox="1"/>
          <p:nvPr/>
        </p:nvSpPr>
        <p:spPr>
          <a:xfrm>
            <a:off x="4764024" y="361188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Analytics</a:t>
            </a:r>
            <a:endParaRPr lang="en-US" sz="1400" dirty="0"/>
          </a:p>
        </p:txBody>
      </p:sp>
      <p:sp>
        <p:nvSpPr>
          <p:cNvPr id="37" name="Text 28"/>
          <p:cNvSpPr txBox="1"/>
          <p:nvPr/>
        </p:nvSpPr>
        <p:spPr>
          <a:xfrm>
            <a:off x="4764024" y="390448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Reach, clicks, follower growth, ROI</a:t>
            </a:r>
            <a:endParaRPr lang="en-US" sz="1100" dirty="0"/>
          </a:p>
        </p:txBody>
      </p:sp>
      <p:sp>
        <p:nvSpPr>
          <p:cNvPr id="38" name="Shape 29"/>
          <p:cNvSpPr/>
          <p:nvPr/>
        </p:nvSpPr>
        <p:spPr>
          <a:xfrm>
            <a:off x="6711696" y="2880360"/>
            <a:ext cx="1965960" cy="1645920"/>
          </a:xfrm>
          <a:prstGeom prst="roundRect">
            <a:avLst>
              <a:gd name="adj" fmla="val 4444"/>
            </a:avLst>
          </a:prstGeom>
          <a:solidFill>
            <a:schemeClr val="bg2"/>
          </a:solidFill>
          <a:ln w="12700">
            <a:solidFill>
              <a:schemeClr val="bg2"/>
            </a:solidFill>
            <a:prstDash val="solid"/>
          </a:ln>
        </p:spPr>
      </p:sp>
      <p:sp>
        <p:nvSpPr>
          <p:cNvPr id="39" name="Shape 30"/>
          <p:cNvSpPr/>
          <p:nvPr/>
        </p:nvSpPr>
        <p:spPr>
          <a:xfrm>
            <a:off x="6848856" y="3017520"/>
            <a:ext cx="502920" cy="502920"/>
          </a:xfrm>
          <a:prstGeom prst="ellipse">
            <a:avLst/>
          </a:prstGeom>
          <a:solidFill>
            <a:schemeClr val="accent4"/>
          </a:solidFill>
          <a:ln w="12700">
            <a:solidFill>
              <a:schemeClr val="accent4"/>
            </a:solidFill>
            <a:prstDash val="solid"/>
          </a:ln>
        </p:spPr>
      </p:sp>
      <p:pic>
        <p:nvPicPr>
          <p:cNvPr id="40" name="Image 7" descr="preencoded.png">    </p:cNvPr>
          <p:cNvPicPr>
            <a:picLocks noChangeAspect="1"/>
          </p:cNvPicPr>
          <p:nvPr/>
        </p:nvPicPr>
        <p:blipFill>
          <a:blip r:embed="rId8"/>
          <a:stretch>
            <a:fillRect/>
          </a:stretch>
        </p:blipFill>
        <p:spPr>
          <a:xfrm>
            <a:off x="6984644" y="3153308"/>
            <a:ext cx="231343" cy="231343"/>
          </a:xfrm>
          <a:prstGeom prst="rect">
            <a:avLst/>
          </a:prstGeom>
        </p:spPr>
      </p:pic>
      <p:sp>
        <p:nvSpPr>
          <p:cNvPr id="41" name="Text 31"/>
          <p:cNvSpPr txBox="1"/>
          <p:nvPr/>
        </p:nvSpPr>
        <p:spPr>
          <a:xfrm>
            <a:off x="6848856" y="3611880"/>
            <a:ext cx="1691640" cy="2743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Reports and Alerts</a:t>
            </a:r>
            <a:endParaRPr lang="en-US" sz="1400" dirty="0"/>
          </a:p>
        </p:txBody>
      </p:sp>
      <p:sp>
        <p:nvSpPr>
          <p:cNvPr id="42" name="Text 32"/>
          <p:cNvSpPr txBox="1"/>
          <p:nvPr/>
        </p:nvSpPr>
        <p:spPr>
          <a:xfrm>
            <a:off x="6848856" y="3904488"/>
            <a:ext cx="1719072" cy="566928"/>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PDF and Excel exports, inbox, reminders</a:t>
            </a:r>
            <a:endParaRPr lang="en-US" sz="1100" dirty="0"/>
          </a:p>
        </p:txBody>
      </p:sp>
      <p:sp>
        <p:nvSpPr>
          <p:cNvPr id="43" name="Text 33"/>
          <p:cNvSpPr txBox="1"/>
          <p:nvPr/>
        </p:nvSpPr>
        <p:spPr>
          <a:xfrm>
            <a:off x="457200" y="4572000"/>
            <a:ext cx="7315200" cy="182880"/>
          </a:xfrm>
          <a:prstGeom prst="rect">
            <a:avLst/>
          </a:prstGeom>
          <a:noFill/>
          <a:ln/>
        </p:spPr>
        <p:txBody>
          <a:bodyPr wrap="square" lIns="0" tIns="0" rIns="0" bIns="0" rtlCol="0" anchor="ctr"/>
          <a:lstStyle/>
          <a:p>
            <a:pPr indent="0" marL="0">
              <a:buNone/>
            </a:pPr>
            <a:r>
              <a:rPr lang="en-US" sz="1100" dirty="0">
                <a:solidFill>
                  <a:schemeClr val="accent5"/>
                </a:solidFill>
                <a:latin typeface="Calibri" pitchFamily="34" charset="0"/>
                <a:ea typeface="Calibri" pitchFamily="34" charset="-122"/>
                <a:cs typeface="Calibri" pitchFamily="34" charset="-120"/>
              </a:rPr>
              <a:t>Plus Teams, Profile and a notification inbox. Works on phone, tablet and desktop widths.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a post travels from draft to published</a:t>
            </a:r>
            <a:endParaRPr lang="en-US" sz="3000" dirty="0"/>
          </a:p>
        </p:txBody>
      </p:sp>
      <p:sp>
        <p:nvSpPr>
          <p:cNvPr id="3" name="Shape 1"/>
          <p:cNvSpPr/>
          <p:nvPr/>
        </p:nvSpPr>
        <p:spPr>
          <a:xfrm>
            <a:off x="804672" y="1143000"/>
            <a:ext cx="594360" cy="594360"/>
          </a:xfrm>
          <a:prstGeom prst="ellipse">
            <a:avLst/>
          </a:prstGeom>
          <a:solidFill>
            <a:schemeClr val="accent5"/>
          </a:solidFill>
          <a:ln w="12700">
            <a:solidFill>
              <a:schemeClr val="accent5"/>
            </a:solidFill>
            <a:prstDash val="solid"/>
          </a:ln>
        </p:spPr>
      </p:sp>
      <p:pic>
        <p:nvPicPr>
          <p:cNvPr id="4" name="Image 0" descr="preencoded.png">    </p:cNvPr>
          <p:cNvPicPr>
            <a:picLocks noChangeAspect="1"/>
          </p:cNvPicPr>
          <p:nvPr/>
        </p:nvPicPr>
        <p:blipFill>
          <a:blip r:embed="rId1"/>
          <a:stretch>
            <a:fillRect/>
          </a:stretch>
        </p:blipFill>
        <p:spPr>
          <a:xfrm>
            <a:off x="965149" y="1303477"/>
            <a:ext cx="273406" cy="273406"/>
          </a:xfrm>
          <a:prstGeom prst="rect">
            <a:avLst/>
          </a:prstGeom>
        </p:spPr>
      </p:pic>
      <p:sp>
        <p:nvSpPr>
          <p:cNvPr id="5" name="Shape 2"/>
          <p:cNvSpPr/>
          <p:nvPr/>
        </p:nvSpPr>
        <p:spPr>
          <a:xfrm>
            <a:off x="1435608" y="1440180"/>
            <a:ext cx="694944" cy="0"/>
          </a:xfrm>
          <a:prstGeom prst="line">
            <a:avLst/>
          </a:prstGeom>
          <a:noFill/>
          <a:ln w="19050">
            <a:solidFill>
              <a:schemeClr val="accent5"/>
            </a:solidFill>
            <a:prstDash val="solid"/>
            <a:tailEnd type="triangle"/>
          </a:ln>
        </p:spPr>
      </p:sp>
      <p:sp>
        <p:nvSpPr>
          <p:cNvPr id="6" name="Text 3"/>
          <p:cNvSpPr txBox="1"/>
          <p:nvPr/>
        </p:nvSpPr>
        <p:spPr>
          <a:xfrm>
            <a:off x="438912" y="1874520"/>
            <a:ext cx="1335024" cy="45720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Draft</a:t>
            </a:r>
            <a:endParaRPr lang="en-US" sz="1300" dirty="0"/>
          </a:p>
        </p:txBody>
      </p:sp>
      <p:sp>
        <p:nvSpPr>
          <p:cNvPr id="7" name="Text 4"/>
          <p:cNvSpPr txBox="1"/>
          <p:nvPr/>
        </p:nvSpPr>
        <p:spPr>
          <a:xfrm>
            <a:off x="457200" y="2331720"/>
            <a:ext cx="1298448" cy="109728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Creator or manager writes the post and picks accounts</a:t>
            </a:r>
            <a:endParaRPr lang="en-US" sz="1100" dirty="0"/>
          </a:p>
        </p:txBody>
      </p:sp>
      <p:sp>
        <p:nvSpPr>
          <p:cNvPr id="8" name="Shape 5"/>
          <p:cNvSpPr/>
          <p:nvPr/>
        </p:nvSpPr>
        <p:spPr>
          <a:xfrm>
            <a:off x="2176272" y="1143000"/>
            <a:ext cx="594360" cy="594360"/>
          </a:xfrm>
          <a:prstGeom prst="ellipse">
            <a:avLst/>
          </a:prstGeom>
          <a:solidFill>
            <a:schemeClr val="accent4"/>
          </a:solidFill>
          <a:ln w="12700">
            <a:solidFill>
              <a:schemeClr val="accent4"/>
            </a:solidFill>
            <a:prstDash val="solid"/>
          </a:ln>
        </p:spPr>
      </p:sp>
      <p:pic>
        <p:nvPicPr>
          <p:cNvPr id="9" name="Image 1" descr="preencoded.png">    </p:cNvPr>
          <p:cNvPicPr>
            <a:picLocks noChangeAspect="1"/>
          </p:cNvPicPr>
          <p:nvPr/>
        </p:nvPicPr>
        <p:blipFill>
          <a:blip r:embed="rId2"/>
          <a:stretch>
            <a:fillRect/>
          </a:stretch>
        </p:blipFill>
        <p:spPr>
          <a:xfrm>
            <a:off x="2336749" y="1303477"/>
            <a:ext cx="273406" cy="273406"/>
          </a:xfrm>
          <a:prstGeom prst="rect">
            <a:avLst/>
          </a:prstGeom>
        </p:spPr>
      </p:pic>
      <p:sp>
        <p:nvSpPr>
          <p:cNvPr id="10" name="Shape 6"/>
          <p:cNvSpPr/>
          <p:nvPr/>
        </p:nvSpPr>
        <p:spPr>
          <a:xfrm>
            <a:off x="2807208" y="1440180"/>
            <a:ext cx="694944" cy="0"/>
          </a:xfrm>
          <a:prstGeom prst="line">
            <a:avLst/>
          </a:prstGeom>
          <a:noFill/>
          <a:ln w="19050">
            <a:solidFill>
              <a:schemeClr val="accent5"/>
            </a:solidFill>
            <a:prstDash val="solid"/>
            <a:tailEnd type="triangle"/>
          </a:ln>
        </p:spPr>
      </p:sp>
      <p:sp>
        <p:nvSpPr>
          <p:cNvPr id="11" name="Text 7"/>
          <p:cNvSpPr txBox="1"/>
          <p:nvPr/>
        </p:nvSpPr>
        <p:spPr>
          <a:xfrm>
            <a:off x="1810512" y="1874520"/>
            <a:ext cx="1335024" cy="45720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Manager review</a:t>
            </a:r>
            <a:endParaRPr lang="en-US" sz="1300" dirty="0"/>
          </a:p>
        </p:txBody>
      </p:sp>
      <p:sp>
        <p:nvSpPr>
          <p:cNvPr id="12" name="Text 8"/>
          <p:cNvSpPr txBox="1"/>
          <p:nvPr/>
        </p:nvSpPr>
        <p:spPr>
          <a:xfrm>
            <a:off x="1828800" y="2331720"/>
            <a:ext cx="1298448" cy="109728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Manager approves; status becomes Awaiting creator</a:t>
            </a:r>
            <a:endParaRPr lang="en-US" sz="1100" dirty="0"/>
          </a:p>
        </p:txBody>
      </p:sp>
      <p:sp>
        <p:nvSpPr>
          <p:cNvPr id="13" name="Shape 9"/>
          <p:cNvSpPr/>
          <p:nvPr/>
        </p:nvSpPr>
        <p:spPr>
          <a:xfrm>
            <a:off x="3547872" y="1143000"/>
            <a:ext cx="594360" cy="594360"/>
          </a:xfrm>
          <a:prstGeom prst="ellipse">
            <a:avLst/>
          </a:prstGeom>
          <a:solidFill>
            <a:schemeClr val="accent3"/>
          </a:solidFill>
          <a:ln w="12700">
            <a:solidFill>
              <a:schemeClr val="accent3"/>
            </a:solidFill>
            <a:prstDash val="solid"/>
          </a:ln>
        </p:spPr>
      </p:sp>
      <p:pic>
        <p:nvPicPr>
          <p:cNvPr id="14" name="Image 2" descr="preencoded.png">    </p:cNvPr>
          <p:cNvPicPr>
            <a:picLocks noChangeAspect="1"/>
          </p:cNvPicPr>
          <p:nvPr/>
        </p:nvPicPr>
        <p:blipFill>
          <a:blip r:embed="rId3"/>
          <a:stretch>
            <a:fillRect/>
          </a:stretch>
        </p:blipFill>
        <p:spPr>
          <a:xfrm>
            <a:off x="3708349" y="1303477"/>
            <a:ext cx="273406" cy="273406"/>
          </a:xfrm>
          <a:prstGeom prst="rect">
            <a:avLst/>
          </a:prstGeom>
        </p:spPr>
      </p:pic>
      <p:sp>
        <p:nvSpPr>
          <p:cNvPr id="15" name="Shape 10"/>
          <p:cNvSpPr/>
          <p:nvPr/>
        </p:nvSpPr>
        <p:spPr>
          <a:xfrm>
            <a:off x="4178808" y="1440180"/>
            <a:ext cx="694944" cy="0"/>
          </a:xfrm>
          <a:prstGeom prst="line">
            <a:avLst/>
          </a:prstGeom>
          <a:noFill/>
          <a:ln w="19050">
            <a:solidFill>
              <a:schemeClr val="accent5"/>
            </a:solidFill>
            <a:prstDash val="solid"/>
            <a:tailEnd type="triangle"/>
          </a:ln>
        </p:spPr>
      </p:sp>
      <p:sp>
        <p:nvSpPr>
          <p:cNvPr id="16" name="Text 11"/>
          <p:cNvSpPr txBox="1"/>
          <p:nvPr/>
        </p:nvSpPr>
        <p:spPr>
          <a:xfrm>
            <a:off x="3182112" y="1874520"/>
            <a:ext cx="1335024" cy="45720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Final approval</a:t>
            </a:r>
            <a:endParaRPr lang="en-US" sz="1300" dirty="0"/>
          </a:p>
        </p:txBody>
      </p:sp>
      <p:sp>
        <p:nvSpPr>
          <p:cNvPr id="17" name="Text 12"/>
          <p:cNvSpPr txBox="1"/>
          <p:nvPr/>
        </p:nvSpPr>
        <p:spPr>
          <a:xfrm>
            <a:off x="3200400" y="2331720"/>
            <a:ext cx="1298448" cy="109728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Creator signs off. Any later edit resets approval</a:t>
            </a:r>
            <a:endParaRPr lang="en-US" sz="1100" dirty="0"/>
          </a:p>
        </p:txBody>
      </p:sp>
      <p:sp>
        <p:nvSpPr>
          <p:cNvPr id="18" name="Shape 13"/>
          <p:cNvSpPr/>
          <p:nvPr/>
        </p:nvSpPr>
        <p:spPr>
          <a:xfrm>
            <a:off x="4919472" y="1143000"/>
            <a:ext cx="594360" cy="594360"/>
          </a:xfrm>
          <a:prstGeom prst="ellipse">
            <a:avLst/>
          </a:prstGeom>
          <a:solidFill>
            <a:schemeClr val="accent2"/>
          </a:solidFill>
          <a:ln w="12700">
            <a:solidFill>
              <a:schemeClr val="accent2"/>
            </a:solidFill>
            <a:prstDash val="solid"/>
          </a:ln>
        </p:spPr>
      </p:sp>
      <p:pic>
        <p:nvPicPr>
          <p:cNvPr id="19" name="Image 3" descr="preencoded.png">    </p:cNvPr>
          <p:cNvPicPr>
            <a:picLocks noChangeAspect="1"/>
          </p:cNvPicPr>
          <p:nvPr/>
        </p:nvPicPr>
        <p:blipFill>
          <a:blip r:embed="rId4"/>
          <a:stretch>
            <a:fillRect/>
          </a:stretch>
        </p:blipFill>
        <p:spPr>
          <a:xfrm>
            <a:off x="5079949" y="1303477"/>
            <a:ext cx="273406" cy="273406"/>
          </a:xfrm>
          <a:prstGeom prst="rect">
            <a:avLst/>
          </a:prstGeom>
        </p:spPr>
      </p:pic>
      <p:sp>
        <p:nvSpPr>
          <p:cNvPr id="20" name="Shape 14"/>
          <p:cNvSpPr/>
          <p:nvPr/>
        </p:nvSpPr>
        <p:spPr>
          <a:xfrm>
            <a:off x="5550408" y="1440180"/>
            <a:ext cx="694944" cy="0"/>
          </a:xfrm>
          <a:prstGeom prst="line">
            <a:avLst/>
          </a:prstGeom>
          <a:noFill/>
          <a:ln w="19050">
            <a:solidFill>
              <a:schemeClr val="accent5"/>
            </a:solidFill>
            <a:prstDash val="solid"/>
            <a:tailEnd type="triangle"/>
          </a:ln>
        </p:spPr>
      </p:sp>
      <p:sp>
        <p:nvSpPr>
          <p:cNvPr id="21" name="Text 15"/>
          <p:cNvSpPr txBox="1"/>
          <p:nvPr/>
        </p:nvSpPr>
        <p:spPr>
          <a:xfrm>
            <a:off x="4553712" y="1874520"/>
            <a:ext cx="1335024" cy="45720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Schedule</a:t>
            </a:r>
            <a:endParaRPr lang="en-US" sz="1300" dirty="0"/>
          </a:p>
        </p:txBody>
      </p:sp>
      <p:sp>
        <p:nvSpPr>
          <p:cNvPr id="22" name="Text 16"/>
          <p:cNvSpPr txBox="1"/>
          <p:nvPr/>
        </p:nvSpPr>
        <p:spPr>
          <a:xfrm>
            <a:off x="4572000" y="2331720"/>
            <a:ext cx="1298448" cy="109728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Date, timezone, recurrence; job enters the queue</a:t>
            </a:r>
            <a:endParaRPr lang="en-US" sz="1100" dirty="0"/>
          </a:p>
        </p:txBody>
      </p:sp>
      <p:sp>
        <p:nvSpPr>
          <p:cNvPr id="23" name="Shape 17"/>
          <p:cNvSpPr/>
          <p:nvPr/>
        </p:nvSpPr>
        <p:spPr>
          <a:xfrm>
            <a:off x="6291072" y="1143000"/>
            <a:ext cx="594360" cy="594360"/>
          </a:xfrm>
          <a:prstGeom prst="ellipse">
            <a:avLst/>
          </a:prstGeom>
          <a:solidFill>
            <a:schemeClr val="tx2"/>
          </a:solidFill>
          <a:ln w="12700">
            <a:solidFill>
              <a:schemeClr val="tx2"/>
            </a:solidFill>
            <a:prstDash val="solid"/>
          </a:ln>
        </p:spPr>
      </p:sp>
      <p:pic>
        <p:nvPicPr>
          <p:cNvPr id="24" name="Image 4" descr="preencoded.png">    </p:cNvPr>
          <p:cNvPicPr>
            <a:picLocks noChangeAspect="1"/>
          </p:cNvPicPr>
          <p:nvPr/>
        </p:nvPicPr>
        <p:blipFill>
          <a:blip r:embed="rId5"/>
          <a:stretch>
            <a:fillRect/>
          </a:stretch>
        </p:blipFill>
        <p:spPr>
          <a:xfrm>
            <a:off x="6451549" y="1303477"/>
            <a:ext cx="273406" cy="273406"/>
          </a:xfrm>
          <a:prstGeom prst="rect">
            <a:avLst/>
          </a:prstGeom>
        </p:spPr>
      </p:pic>
      <p:sp>
        <p:nvSpPr>
          <p:cNvPr id="25" name="Shape 18"/>
          <p:cNvSpPr/>
          <p:nvPr/>
        </p:nvSpPr>
        <p:spPr>
          <a:xfrm>
            <a:off x="6922008" y="1440180"/>
            <a:ext cx="694944" cy="0"/>
          </a:xfrm>
          <a:prstGeom prst="line">
            <a:avLst/>
          </a:prstGeom>
          <a:noFill/>
          <a:ln w="19050">
            <a:solidFill>
              <a:schemeClr val="accent5"/>
            </a:solidFill>
            <a:prstDash val="solid"/>
            <a:tailEnd type="triangle"/>
          </a:ln>
        </p:spPr>
      </p:sp>
      <p:sp>
        <p:nvSpPr>
          <p:cNvPr id="26" name="Text 19"/>
          <p:cNvSpPr txBox="1"/>
          <p:nvPr/>
        </p:nvSpPr>
        <p:spPr>
          <a:xfrm>
            <a:off x="5925312" y="1874520"/>
            <a:ext cx="1335024" cy="45720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Worker publishes</a:t>
            </a:r>
            <a:endParaRPr lang="en-US" sz="1300" dirty="0"/>
          </a:p>
        </p:txBody>
      </p:sp>
      <p:sp>
        <p:nvSpPr>
          <p:cNvPr id="27" name="Text 20"/>
          <p:cNvSpPr txBox="1"/>
          <p:nvPr/>
        </p:nvSpPr>
        <p:spPr>
          <a:xfrm>
            <a:off x="5943600" y="2331720"/>
            <a:ext cx="1298448" cy="109728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Claims the job, rechecks the creator role, calls the platform</a:t>
            </a:r>
            <a:endParaRPr lang="en-US" sz="1100" dirty="0"/>
          </a:p>
        </p:txBody>
      </p:sp>
      <p:sp>
        <p:nvSpPr>
          <p:cNvPr id="28" name="Shape 21"/>
          <p:cNvSpPr/>
          <p:nvPr/>
        </p:nvSpPr>
        <p:spPr>
          <a:xfrm>
            <a:off x="7662672" y="1143000"/>
            <a:ext cx="594360" cy="594360"/>
          </a:xfrm>
          <a:prstGeom prst="ellipse">
            <a:avLst/>
          </a:prstGeom>
          <a:solidFill>
            <a:schemeClr val="accent6"/>
          </a:solidFill>
          <a:ln w="12700">
            <a:solidFill>
              <a:schemeClr val="accent6"/>
            </a:solidFill>
            <a:prstDash val="solid"/>
          </a:ln>
        </p:spPr>
      </p:sp>
      <p:pic>
        <p:nvPicPr>
          <p:cNvPr id="29" name="Image 5" descr="preencoded.png">    </p:cNvPr>
          <p:cNvPicPr>
            <a:picLocks noChangeAspect="1"/>
          </p:cNvPicPr>
          <p:nvPr/>
        </p:nvPicPr>
        <p:blipFill>
          <a:blip r:embed="rId6"/>
          <a:stretch>
            <a:fillRect/>
          </a:stretch>
        </p:blipFill>
        <p:spPr>
          <a:xfrm>
            <a:off x="7823149" y="1303477"/>
            <a:ext cx="273406" cy="273406"/>
          </a:xfrm>
          <a:prstGeom prst="rect">
            <a:avLst/>
          </a:prstGeom>
        </p:spPr>
      </p:pic>
      <p:sp>
        <p:nvSpPr>
          <p:cNvPr id="30" name="Text 22"/>
          <p:cNvSpPr txBox="1"/>
          <p:nvPr/>
        </p:nvSpPr>
        <p:spPr>
          <a:xfrm>
            <a:off x="7296912" y="1874520"/>
            <a:ext cx="1335024" cy="457200"/>
          </a:xfrm>
          <a:prstGeom prst="rect">
            <a:avLst/>
          </a:prstGeom>
          <a:noFill/>
          <a:ln/>
        </p:spPr>
        <p:txBody>
          <a:bodyPr wrap="square" lIns="0" tIns="0" rIns="0" bIns="0" rtlCol="0" anchor="t"/>
          <a:lstStyle/>
          <a:p>
            <a:pPr algn="ctr" indent="0" marL="0">
              <a:buNone/>
            </a:pPr>
            <a:r>
              <a:rPr lang="en-US" sz="1300" b="1" dirty="0">
                <a:solidFill>
                  <a:schemeClr val="tx2"/>
                </a:solidFill>
                <a:latin typeface="Cambria" pitchFamily="34" charset="0"/>
                <a:ea typeface="Cambria" pitchFamily="34" charset="-122"/>
                <a:cs typeface="Cambria" pitchFamily="34" charset="-120"/>
              </a:rPr>
              <a:t>Logged</a:t>
            </a:r>
            <a:endParaRPr lang="en-US" sz="1300" dirty="0"/>
          </a:p>
        </p:txBody>
      </p:sp>
      <p:sp>
        <p:nvSpPr>
          <p:cNvPr id="31" name="Text 23"/>
          <p:cNvSpPr txBox="1"/>
          <p:nvPr/>
        </p:nvSpPr>
        <p:spPr>
          <a:xfrm>
            <a:off x="7315200" y="2331720"/>
            <a:ext cx="1298448" cy="109728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Published, or failed and retried with backoff</a:t>
            </a:r>
            <a:endParaRPr lang="en-US" sz="1100" dirty="0"/>
          </a:p>
        </p:txBody>
      </p:sp>
      <p:sp>
        <p:nvSpPr>
          <p:cNvPr id="32" name="Shape 24"/>
          <p:cNvSpPr/>
          <p:nvPr/>
        </p:nvSpPr>
        <p:spPr>
          <a:xfrm>
            <a:off x="457200" y="3611880"/>
            <a:ext cx="8229600" cy="914400"/>
          </a:xfrm>
          <a:prstGeom prst="roundRect">
            <a:avLst>
              <a:gd name="adj" fmla="val 8000"/>
            </a:avLst>
          </a:prstGeom>
          <a:solidFill>
            <a:schemeClr val="bg2"/>
          </a:solidFill>
          <a:ln w="12700">
            <a:solidFill>
              <a:schemeClr val="bg2"/>
            </a:solidFill>
            <a:prstDash val="solid"/>
          </a:ln>
        </p:spPr>
      </p:sp>
      <p:sp>
        <p:nvSpPr>
          <p:cNvPr id="33" name="Text 25"/>
          <p:cNvSpPr txBox="1"/>
          <p:nvPr/>
        </p:nvSpPr>
        <p:spPr>
          <a:xfrm>
            <a:off x="640080" y="3657600"/>
            <a:ext cx="7863840" cy="36576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Creator-authored posts skip review and go straight to scheduling. Only creators can schedule, publish or retry.</a:t>
            </a:r>
            <a:endParaRPr lang="en-US" sz="1200" dirty="0"/>
          </a:p>
        </p:txBody>
      </p:sp>
      <p:sp>
        <p:nvSpPr>
          <p:cNvPr id="34" name="Shape 26"/>
          <p:cNvSpPr/>
          <p:nvPr/>
        </p:nvSpPr>
        <p:spPr>
          <a:xfrm>
            <a:off x="640080" y="4114800"/>
            <a:ext cx="1417320" cy="237744"/>
          </a:xfrm>
          <a:prstGeom prst="roundRect">
            <a:avLst>
              <a:gd name="adj" fmla="val 50000"/>
            </a:avLst>
          </a:prstGeom>
          <a:solidFill>
            <a:schemeClr val="accent4"/>
          </a:solidFill>
          <a:ln w="12700">
            <a:solidFill>
              <a:schemeClr val="accent4"/>
            </a:solidFill>
            <a:prstDash val="solid"/>
          </a:ln>
        </p:spPr>
      </p:sp>
      <p:sp>
        <p:nvSpPr>
          <p:cNvPr id="35" name="Text 27"/>
          <p:cNvSpPr txBox="1"/>
          <p:nvPr/>
        </p:nvSpPr>
        <p:spPr>
          <a:xfrm>
            <a:off x="640080" y="4114800"/>
            <a:ext cx="141732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Scheduled</a:t>
            </a:r>
            <a:endParaRPr lang="en-US" sz="1000" dirty="0"/>
          </a:p>
        </p:txBody>
      </p:sp>
      <p:sp>
        <p:nvSpPr>
          <p:cNvPr id="36" name="Shape 28"/>
          <p:cNvSpPr/>
          <p:nvPr/>
        </p:nvSpPr>
        <p:spPr>
          <a:xfrm>
            <a:off x="2240280" y="4114800"/>
            <a:ext cx="1417320" cy="237744"/>
          </a:xfrm>
          <a:prstGeom prst="roundRect">
            <a:avLst>
              <a:gd name="adj" fmla="val 50000"/>
            </a:avLst>
          </a:prstGeom>
          <a:solidFill>
            <a:schemeClr val="accent6"/>
          </a:solidFill>
          <a:ln w="12700">
            <a:solidFill>
              <a:schemeClr val="accent6"/>
            </a:solidFill>
            <a:prstDash val="solid"/>
          </a:ln>
        </p:spPr>
      </p:sp>
      <p:sp>
        <p:nvSpPr>
          <p:cNvPr id="37" name="Text 29"/>
          <p:cNvSpPr txBox="1"/>
          <p:nvPr/>
        </p:nvSpPr>
        <p:spPr>
          <a:xfrm>
            <a:off x="2240280" y="4114800"/>
            <a:ext cx="141732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Published</a:t>
            </a:r>
            <a:endParaRPr lang="en-US" sz="1000" dirty="0"/>
          </a:p>
        </p:txBody>
      </p:sp>
      <p:sp>
        <p:nvSpPr>
          <p:cNvPr id="38" name="Shape 30"/>
          <p:cNvSpPr/>
          <p:nvPr/>
        </p:nvSpPr>
        <p:spPr>
          <a:xfrm>
            <a:off x="3840480" y="4114800"/>
            <a:ext cx="1417320" cy="237744"/>
          </a:xfrm>
          <a:prstGeom prst="roundRect">
            <a:avLst>
              <a:gd name="adj" fmla="val 50000"/>
            </a:avLst>
          </a:prstGeom>
          <a:solidFill>
            <a:schemeClr val="accent1"/>
          </a:solidFill>
          <a:ln w="12700">
            <a:solidFill>
              <a:schemeClr val="accent1"/>
            </a:solidFill>
            <a:prstDash val="solid"/>
          </a:ln>
        </p:spPr>
      </p:sp>
      <p:sp>
        <p:nvSpPr>
          <p:cNvPr id="39" name="Text 31"/>
          <p:cNvSpPr txBox="1"/>
          <p:nvPr/>
        </p:nvSpPr>
        <p:spPr>
          <a:xfrm>
            <a:off x="3840480" y="4114800"/>
            <a:ext cx="141732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Failed</a:t>
            </a:r>
            <a:endParaRPr lang="en-US" sz="1000" dirty="0"/>
          </a:p>
        </p:txBody>
      </p:sp>
      <p:sp>
        <p:nvSpPr>
          <p:cNvPr id="40" name="Shape 32"/>
          <p:cNvSpPr/>
          <p:nvPr/>
        </p:nvSpPr>
        <p:spPr>
          <a:xfrm>
            <a:off x="5440680" y="4114800"/>
            <a:ext cx="1417320" cy="237744"/>
          </a:xfrm>
          <a:prstGeom prst="roundRect">
            <a:avLst>
              <a:gd name="adj" fmla="val 50000"/>
            </a:avLst>
          </a:prstGeom>
          <a:solidFill>
            <a:schemeClr val="accent5"/>
          </a:solidFill>
          <a:ln w="12700">
            <a:solidFill>
              <a:schemeClr val="accent5"/>
            </a:solidFill>
            <a:prstDash val="solid"/>
          </a:ln>
        </p:spPr>
      </p:sp>
      <p:sp>
        <p:nvSpPr>
          <p:cNvPr id="41" name="Text 33"/>
          <p:cNvSpPr txBox="1"/>
          <p:nvPr/>
        </p:nvSpPr>
        <p:spPr>
          <a:xfrm>
            <a:off x="5440680" y="4114800"/>
            <a:ext cx="141732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Cancelled</a:t>
            </a:r>
            <a:endParaRPr lang="en-US" sz="1000" dirty="0"/>
          </a:p>
        </p:txBody>
      </p:sp>
      <p:sp>
        <p:nvSpPr>
          <p:cNvPr id="42" name="Shape 34"/>
          <p:cNvSpPr/>
          <p:nvPr/>
        </p:nvSpPr>
        <p:spPr>
          <a:xfrm>
            <a:off x="7040880" y="4114800"/>
            <a:ext cx="1371600" cy="237744"/>
          </a:xfrm>
          <a:prstGeom prst="roundRect">
            <a:avLst>
              <a:gd name="adj" fmla="val 50000"/>
            </a:avLst>
          </a:prstGeom>
          <a:solidFill>
            <a:schemeClr val="accent3"/>
          </a:solidFill>
          <a:ln w="12700">
            <a:solidFill>
              <a:schemeClr val="accent3"/>
            </a:solidFill>
            <a:prstDash val="solid"/>
          </a:ln>
        </p:spPr>
      </p:sp>
      <p:sp>
        <p:nvSpPr>
          <p:cNvPr id="43" name="Text 35"/>
          <p:cNvSpPr txBox="1"/>
          <p:nvPr/>
        </p:nvSpPr>
        <p:spPr>
          <a:xfrm>
            <a:off x="7040880" y="4114800"/>
            <a:ext cx="137160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Pending approval</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Architecture: what we built</a:t>
            </a:r>
            <a:endParaRPr lang="en-US" sz="3000" dirty="0"/>
          </a:p>
        </p:txBody>
      </p:sp>
      <p:sp>
        <p:nvSpPr>
          <p:cNvPr id="3" name="Shape 1"/>
          <p:cNvSpPr/>
          <p:nvPr/>
        </p:nvSpPr>
        <p:spPr>
          <a:xfrm>
            <a:off x="457200" y="1097280"/>
            <a:ext cx="1737360" cy="1005840"/>
          </a:xfrm>
          <a:prstGeom prst="roundRect">
            <a:avLst>
              <a:gd name="adj" fmla="val 7273"/>
            </a:avLst>
          </a:prstGeom>
          <a:solidFill>
            <a:schemeClr val="accent5"/>
          </a:solidFill>
          <a:ln w="12700">
            <a:solidFill>
              <a:schemeClr val="accent5"/>
            </a:solidFill>
            <a:prstDash val="solid"/>
          </a:ln>
        </p:spPr>
      </p:sp>
      <p:sp>
        <p:nvSpPr>
          <p:cNvPr id="4" name="Text 2"/>
          <p:cNvSpPr txBox="1"/>
          <p:nvPr/>
        </p:nvSpPr>
        <p:spPr>
          <a:xfrm>
            <a:off x="530352" y="1170432"/>
            <a:ext cx="159105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Users</a:t>
            </a:r>
            <a:endParaRPr lang="en-US" sz="1400" dirty="0"/>
          </a:p>
        </p:txBody>
      </p:sp>
      <p:sp>
        <p:nvSpPr>
          <p:cNvPr id="5" name="Text 3"/>
          <p:cNvSpPr txBox="1"/>
          <p:nvPr/>
        </p:nvSpPr>
        <p:spPr>
          <a:xfrm>
            <a:off x="530352" y="1463040"/>
            <a:ext cx="1591056" cy="5943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Creator, Manager,</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Business, Administrator</a:t>
            </a:r>
            <a:endParaRPr lang="en-US" sz="1100" dirty="0"/>
          </a:p>
        </p:txBody>
      </p:sp>
      <p:sp>
        <p:nvSpPr>
          <p:cNvPr id="6" name="Shape 4"/>
          <p:cNvSpPr/>
          <p:nvPr/>
        </p:nvSpPr>
        <p:spPr>
          <a:xfrm>
            <a:off x="2514600" y="1097280"/>
            <a:ext cx="1920240" cy="1005840"/>
          </a:xfrm>
          <a:prstGeom prst="roundRect">
            <a:avLst>
              <a:gd name="adj" fmla="val 7273"/>
            </a:avLst>
          </a:prstGeom>
          <a:solidFill>
            <a:schemeClr val="accent4"/>
          </a:solidFill>
          <a:ln w="12700">
            <a:solidFill>
              <a:schemeClr val="accent4"/>
            </a:solidFill>
            <a:prstDash val="solid"/>
          </a:ln>
        </p:spPr>
      </p:sp>
      <p:sp>
        <p:nvSpPr>
          <p:cNvPr id="7" name="Text 5"/>
          <p:cNvSpPr txBox="1"/>
          <p:nvPr/>
        </p:nvSpPr>
        <p:spPr>
          <a:xfrm>
            <a:off x="2587752" y="1170432"/>
            <a:ext cx="177393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React + Vite UI</a:t>
            </a:r>
            <a:endParaRPr lang="en-US" sz="1400" dirty="0"/>
          </a:p>
        </p:txBody>
      </p:sp>
      <p:sp>
        <p:nvSpPr>
          <p:cNvPr id="8" name="Text 6"/>
          <p:cNvSpPr txBox="1"/>
          <p:nvPr/>
        </p:nvSpPr>
        <p:spPr>
          <a:xfrm>
            <a:off x="2587752" y="1463040"/>
            <a:ext cx="1773936" cy="5943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Lazy-loaded pages,</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charts load on demand</a:t>
            </a:r>
            <a:endParaRPr lang="en-US" sz="1100" dirty="0"/>
          </a:p>
        </p:txBody>
      </p:sp>
      <p:sp>
        <p:nvSpPr>
          <p:cNvPr id="9" name="Shape 7"/>
          <p:cNvSpPr/>
          <p:nvPr/>
        </p:nvSpPr>
        <p:spPr>
          <a:xfrm>
            <a:off x="4754880" y="1097280"/>
            <a:ext cx="2011680" cy="1005840"/>
          </a:xfrm>
          <a:prstGeom prst="roundRect">
            <a:avLst>
              <a:gd name="adj" fmla="val 7273"/>
            </a:avLst>
          </a:prstGeom>
          <a:solidFill>
            <a:schemeClr val="tx2"/>
          </a:solidFill>
          <a:ln w="12700">
            <a:solidFill>
              <a:schemeClr val="tx2"/>
            </a:solidFill>
            <a:prstDash val="solid"/>
          </a:ln>
        </p:spPr>
      </p:sp>
      <p:sp>
        <p:nvSpPr>
          <p:cNvPr id="10" name="Text 8"/>
          <p:cNvSpPr txBox="1"/>
          <p:nvPr/>
        </p:nvSpPr>
        <p:spPr>
          <a:xfrm>
            <a:off x="4828032" y="1170432"/>
            <a:ext cx="186537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FastAPI backend</a:t>
            </a:r>
            <a:endParaRPr lang="en-US" sz="1400" dirty="0"/>
          </a:p>
        </p:txBody>
      </p:sp>
      <p:sp>
        <p:nvSpPr>
          <p:cNvPr id="11" name="Text 9"/>
          <p:cNvSpPr txBox="1"/>
          <p:nvPr/>
        </p:nvSpPr>
        <p:spPr>
          <a:xfrm>
            <a:off x="4828032" y="1463040"/>
            <a:ext cx="1865376" cy="5943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JWT, role checks,</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workspace scoping</a:t>
            </a:r>
            <a:endParaRPr lang="en-US" sz="1100" dirty="0"/>
          </a:p>
        </p:txBody>
      </p:sp>
      <p:sp>
        <p:nvSpPr>
          <p:cNvPr id="12" name="Shape 10"/>
          <p:cNvSpPr/>
          <p:nvPr/>
        </p:nvSpPr>
        <p:spPr>
          <a:xfrm>
            <a:off x="7086600" y="1097280"/>
            <a:ext cx="1600200" cy="1005840"/>
          </a:xfrm>
          <a:prstGeom prst="roundRect">
            <a:avLst>
              <a:gd name="adj" fmla="val 7273"/>
            </a:avLst>
          </a:prstGeom>
          <a:solidFill>
            <a:schemeClr val="accent2"/>
          </a:solidFill>
          <a:ln w="12700">
            <a:solidFill>
              <a:schemeClr val="accent2"/>
            </a:solidFill>
            <a:prstDash val="solid"/>
          </a:ln>
        </p:spPr>
      </p:sp>
      <p:sp>
        <p:nvSpPr>
          <p:cNvPr id="13" name="Text 11"/>
          <p:cNvSpPr txBox="1"/>
          <p:nvPr/>
        </p:nvSpPr>
        <p:spPr>
          <a:xfrm>
            <a:off x="7159752" y="1170432"/>
            <a:ext cx="145389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PostgreSQL</a:t>
            </a:r>
            <a:endParaRPr lang="en-US" sz="1400" dirty="0"/>
          </a:p>
        </p:txBody>
      </p:sp>
      <p:sp>
        <p:nvSpPr>
          <p:cNvPr id="14" name="Text 12"/>
          <p:cNvSpPr txBox="1"/>
          <p:nvPr/>
        </p:nvSpPr>
        <p:spPr>
          <a:xfrm>
            <a:off x="7159752" y="1463040"/>
            <a:ext cx="1453896" cy="5943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Users, posts, jobs,</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metrics, outbox</a:t>
            </a:r>
            <a:endParaRPr lang="en-US" sz="1100" dirty="0"/>
          </a:p>
        </p:txBody>
      </p:sp>
      <p:sp>
        <p:nvSpPr>
          <p:cNvPr id="15" name="Shape 13"/>
          <p:cNvSpPr/>
          <p:nvPr/>
        </p:nvSpPr>
        <p:spPr>
          <a:xfrm>
            <a:off x="2194560" y="1600200"/>
            <a:ext cx="320040" cy="0"/>
          </a:xfrm>
          <a:prstGeom prst="line">
            <a:avLst/>
          </a:prstGeom>
          <a:noFill/>
          <a:ln w="25400">
            <a:solidFill>
              <a:schemeClr val="accent5"/>
            </a:solidFill>
            <a:prstDash val="solid"/>
            <a:tailEnd type="triangle"/>
          </a:ln>
        </p:spPr>
      </p:sp>
      <p:sp>
        <p:nvSpPr>
          <p:cNvPr id="16" name="Shape 14"/>
          <p:cNvSpPr/>
          <p:nvPr/>
        </p:nvSpPr>
        <p:spPr>
          <a:xfrm>
            <a:off x="4434840" y="1600200"/>
            <a:ext cx="320040" cy="0"/>
          </a:xfrm>
          <a:prstGeom prst="line">
            <a:avLst/>
          </a:prstGeom>
          <a:noFill/>
          <a:ln w="25400">
            <a:solidFill>
              <a:schemeClr val="accent5"/>
            </a:solidFill>
            <a:prstDash val="solid"/>
            <a:tailEnd type="triangle"/>
          </a:ln>
        </p:spPr>
      </p:sp>
      <p:sp>
        <p:nvSpPr>
          <p:cNvPr id="17" name="Shape 15"/>
          <p:cNvSpPr/>
          <p:nvPr/>
        </p:nvSpPr>
        <p:spPr>
          <a:xfrm>
            <a:off x="6766560" y="1600200"/>
            <a:ext cx="320040" cy="0"/>
          </a:xfrm>
          <a:prstGeom prst="line">
            <a:avLst/>
          </a:prstGeom>
          <a:noFill/>
          <a:ln w="25400">
            <a:solidFill>
              <a:schemeClr val="accent5"/>
            </a:solidFill>
            <a:prstDash val="solid"/>
            <a:tailEnd type="triangle"/>
          </a:ln>
        </p:spPr>
      </p:sp>
      <p:sp>
        <p:nvSpPr>
          <p:cNvPr id="18" name="Shape 16"/>
          <p:cNvSpPr/>
          <p:nvPr/>
        </p:nvSpPr>
        <p:spPr>
          <a:xfrm>
            <a:off x="2514600" y="2697480"/>
            <a:ext cx="1920240" cy="914400"/>
          </a:xfrm>
          <a:prstGeom prst="roundRect">
            <a:avLst>
              <a:gd name="adj" fmla="val 8000"/>
            </a:avLst>
          </a:prstGeom>
          <a:solidFill>
            <a:schemeClr val="accent1"/>
          </a:solidFill>
          <a:ln w="12700">
            <a:solidFill>
              <a:schemeClr val="accent1"/>
            </a:solidFill>
            <a:prstDash val="solid"/>
          </a:ln>
        </p:spPr>
      </p:sp>
      <p:sp>
        <p:nvSpPr>
          <p:cNvPr id="19" name="Text 17"/>
          <p:cNvSpPr txBox="1"/>
          <p:nvPr/>
        </p:nvSpPr>
        <p:spPr>
          <a:xfrm>
            <a:off x="2587752" y="2770632"/>
            <a:ext cx="177393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Publishing worker</a:t>
            </a:r>
            <a:endParaRPr lang="en-US" sz="1400" dirty="0"/>
          </a:p>
        </p:txBody>
      </p:sp>
      <p:sp>
        <p:nvSpPr>
          <p:cNvPr id="20" name="Text 18"/>
          <p:cNvSpPr txBox="1"/>
          <p:nvPr/>
        </p:nvSpPr>
        <p:spPr>
          <a:xfrm>
            <a:off x="2587752" y="3063240"/>
            <a:ext cx="1773936" cy="50292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Claims due jobs,</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retries, logs</a:t>
            </a:r>
            <a:endParaRPr lang="en-US" sz="1100" dirty="0"/>
          </a:p>
        </p:txBody>
      </p:sp>
      <p:sp>
        <p:nvSpPr>
          <p:cNvPr id="21" name="Shape 19"/>
          <p:cNvSpPr/>
          <p:nvPr/>
        </p:nvSpPr>
        <p:spPr>
          <a:xfrm>
            <a:off x="4754880" y="2697480"/>
            <a:ext cx="2011680" cy="914400"/>
          </a:xfrm>
          <a:prstGeom prst="roundRect">
            <a:avLst>
              <a:gd name="adj" fmla="val 8000"/>
            </a:avLst>
          </a:prstGeom>
          <a:solidFill>
            <a:schemeClr val="accent3"/>
          </a:solidFill>
          <a:ln w="12700">
            <a:solidFill>
              <a:schemeClr val="accent3"/>
            </a:solidFill>
            <a:prstDash val="solid"/>
          </a:ln>
        </p:spPr>
      </p:sp>
      <p:sp>
        <p:nvSpPr>
          <p:cNvPr id="22" name="Text 20"/>
          <p:cNvSpPr txBox="1"/>
          <p:nvPr/>
        </p:nvSpPr>
        <p:spPr>
          <a:xfrm>
            <a:off x="4828032" y="2770632"/>
            <a:ext cx="1865376" cy="27432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Notification worker</a:t>
            </a:r>
            <a:endParaRPr lang="en-US" sz="1400" dirty="0"/>
          </a:p>
        </p:txBody>
      </p:sp>
      <p:sp>
        <p:nvSpPr>
          <p:cNvPr id="23" name="Text 21"/>
          <p:cNvSpPr txBox="1"/>
          <p:nvPr/>
        </p:nvSpPr>
        <p:spPr>
          <a:xfrm>
            <a:off x="4828032" y="3063240"/>
            <a:ext cx="1865376" cy="502920"/>
          </a:xfrm>
          <a:prstGeom prst="rect">
            <a:avLst/>
          </a:prstGeom>
          <a:noFill/>
          <a:ln/>
        </p:spPr>
        <p:txBody>
          <a:bodyPr wrap="square" lIns="0" tIns="0" rIns="0" bIns="0" rtlCol="0" anchor="t"/>
          <a:lstStyle/>
          <a:p>
            <a:pPr algn="ctr" indent="0" marL="0">
              <a:buNone/>
            </a:pPr>
            <a:r>
              <a:rPr lang="en-US" sz="1100" dirty="0">
                <a:solidFill>
                  <a:schemeClr val="tx2"/>
                </a:solidFill>
                <a:latin typeface="Calibri" pitchFamily="34" charset="0"/>
                <a:ea typeface="Calibri" pitchFamily="34" charset="-122"/>
                <a:cs typeface="Calibri" pitchFamily="34" charset="-120"/>
              </a:rPr>
              <a:t>Inbox, email, push</a:t>
            </a:r>
            <a:endParaRPr lang="en-US" sz="1100" dirty="0"/>
          </a:p>
          <a:p>
            <a:pPr algn="ctr" indent="0" marL="0">
              <a:buNone/>
            </a:pPr>
            <a:r>
              <a:rPr lang="en-US" sz="1100" dirty="0">
                <a:solidFill>
                  <a:schemeClr val="tx2"/>
                </a:solidFill>
                <a:latin typeface="Calibri" pitchFamily="34" charset="0"/>
                <a:ea typeface="Calibri" pitchFamily="34" charset="-122"/>
                <a:cs typeface="Calibri" pitchFamily="34" charset="-120"/>
              </a:rPr>
              <a:t>(opt-in)</a:t>
            </a:r>
            <a:endParaRPr lang="en-US" sz="1100" dirty="0"/>
          </a:p>
        </p:txBody>
      </p:sp>
      <p:sp>
        <p:nvSpPr>
          <p:cNvPr id="24" name="Shape 22"/>
          <p:cNvSpPr/>
          <p:nvPr/>
        </p:nvSpPr>
        <p:spPr>
          <a:xfrm>
            <a:off x="7086600" y="2697480"/>
            <a:ext cx="1600200" cy="914400"/>
          </a:xfrm>
          <a:prstGeom prst="roundRect">
            <a:avLst>
              <a:gd name="adj" fmla="val 8000"/>
            </a:avLst>
          </a:prstGeom>
          <a:solidFill>
            <a:schemeClr val="accent6"/>
          </a:solidFill>
          <a:ln w="12700">
            <a:solidFill>
              <a:schemeClr val="accent6"/>
            </a:solidFill>
            <a:prstDash val="solid"/>
          </a:ln>
        </p:spPr>
      </p:sp>
      <p:sp>
        <p:nvSpPr>
          <p:cNvPr id="25" name="Text 23"/>
          <p:cNvSpPr txBox="1"/>
          <p:nvPr/>
        </p:nvSpPr>
        <p:spPr>
          <a:xfrm>
            <a:off x="7159752" y="2770632"/>
            <a:ext cx="145389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Exports</a:t>
            </a:r>
            <a:endParaRPr lang="en-US" sz="1400" dirty="0"/>
          </a:p>
        </p:txBody>
      </p:sp>
      <p:sp>
        <p:nvSpPr>
          <p:cNvPr id="26" name="Text 24"/>
          <p:cNvSpPr txBox="1"/>
          <p:nvPr/>
        </p:nvSpPr>
        <p:spPr>
          <a:xfrm>
            <a:off x="7159752" y="3063240"/>
            <a:ext cx="1453896" cy="50292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PDF and Excel</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reports</a:t>
            </a:r>
            <a:endParaRPr lang="en-US" sz="1100" dirty="0"/>
          </a:p>
        </p:txBody>
      </p:sp>
      <p:sp>
        <p:nvSpPr>
          <p:cNvPr id="27" name="Shape 25"/>
          <p:cNvSpPr/>
          <p:nvPr/>
        </p:nvSpPr>
        <p:spPr>
          <a:xfrm>
            <a:off x="3474720" y="2103120"/>
            <a:ext cx="0" cy="594360"/>
          </a:xfrm>
          <a:prstGeom prst="line">
            <a:avLst/>
          </a:prstGeom>
          <a:noFill/>
          <a:ln w="25400">
            <a:solidFill>
              <a:schemeClr val="accent5"/>
            </a:solidFill>
            <a:prstDash val="solid"/>
            <a:tailEnd type="triangle"/>
          </a:ln>
        </p:spPr>
      </p:sp>
      <p:sp>
        <p:nvSpPr>
          <p:cNvPr id="28" name="Shape 26"/>
          <p:cNvSpPr/>
          <p:nvPr/>
        </p:nvSpPr>
        <p:spPr>
          <a:xfrm>
            <a:off x="5760720" y="2103120"/>
            <a:ext cx="0" cy="594360"/>
          </a:xfrm>
          <a:prstGeom prst="line">
            <a:avLst/>
          </a:prstGeom>
          <a:noFill/>
          <a:ln w="25400">
            <a:solidFill>
              <a:schemeClr val="accent5"/>
            </a:solidFill>
            <a:prstDash val="solid"/>
            <a:tailEnd type="triangle"/>
          </a:ln>
        </p:spPr>
      </p:sp>
      <p:sp>
        <p:nvSpPr>
          <p:cNvPr id="29" name="Shape 27"/>
          <p:cNvSpPr/>
          <p:nvPr/>
        </p:nvSpPr>
        <p:spPr>
          <a:xfrm>
            <a:off x="7863840" y="2103120"/>
            <a:ext cx="0" cy="594360"/>
          </a:xfrm>
          <a:prstGeom prst="line">
            <a:avLst/>
          </a:prstGeom>
          <a:noFill/>
          <a:ln w="25400">
            <a:solidFill>
              <a:schemeClr val="accent5"/>
            </a:solidFill>
            <a:prstDash val="solid"/>
            <a:tailEnd type="triangle"/>
          </a:ln>
        </p:spPr>
      </p:sp>
      <p:sp>
        <p:nvSpPr>
          <p:cNvPr id="30" name="Shape 28"/>
          <p:cNvSpPr/>
          <p:nvPr/>
        </p:nvSpPr>
        <p:spPr>
          <a:xfrm>
            <a:off x="457200" y="2697480"/>
            <a:ext cx="1737360" cy="914400"/>
          </a:xfrm>
          <a:prstGeom prst="roundRect">
            <a:avLst>
              <a:gd name="adj" fmla="val 8000"/>
            </a:avLst>
          </a:prstGeom>
          <a:solidFill>
            <a:schemeClr val="accent5"/>
          </a:solidFill>
          <a:ln w="12700">
            <a:solidFill>
              <a:schemeClr val="accent5"/>
            </a:solidFill>
            <a:prstDash val="solid"/>
          </a:ln>
        </p:spPr>
      </p:sp>
      <p:sp>
        <p:nvSpPr>
          <p:cNvPr id="31" name="Text 29"/>
          <p:cNvSpPr txBox="1"/>
          <p:nvPr/>
        </p:nvSpPr>
        <p:spPr>
          <a:xfrm>
            <a:off x="530352" y="2770632"/>
            <a:ext cx="1591056" cy="2743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Social platforms</a:t>
            </a:r>
            <a:endParaRPr lang="en-US" sz="1400" dirty="0"/>
          </a:p>
        </p:txBody>
      </p:sp>
      <p:sp>
        <p:nvSpPr>
          <p:cNvPr id="32" name="Text 30"/>
          <p:cNvSpPr txBox="1"/>
          <p:nvPr/>
        </p:nvSpPr>
        <p:spPr>
          <a:xfrm>
            <a:off x="530352" y="3063240"/>
            <a:ext cx="1591056" cy="50292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Facebook, Instagram,</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LinkedIn, X, YouTube</a:t>
            </a:r>
            <a:endParaRPr lang="en-US" sz="1100" dirty="0"/>
          </a:p>
        </p:txBody>
      </p:sp>
      <p:sp>
        <p:nvSpPr>
          <p:cNvPr id="33" name="Shape 31"/>
          <p:cNvSpPr/>
          <p:nvPr/>
        </p:nvSpPr>
        <p:spPr>
          <a:xfrm>
            <a:off x="2514600" y="3154680"/>
            <a:ext cx="-320040" cy="0"/>
          </a:xfrm>
          <a:prstGeom prst="line">
            <a:avLst/>
          </a:prstGeom>
          <a:noFill/>
          <a:ln w="25400">
            <a:solidFill>
              <a:schemeClr val="accent5"/>
            </a:solidFill>
            <a:prstDash val="solid"/>
            <a:tailEnd type="triangle"/>
          </a:ln>
        </p:spPr>
      </p:sp>
      <p:sp>
        <p:nvSpPr>
          <p:cNvPr id="34" name="Shape 32"/>
          <p:cNvSpPr/>
          <p:nvPr/>
        </p:nvSpPr>
        <p:spPr>
          <a:xfrm>
            <a:off x="457200" y="3794760"/>
            <a:ext cx="8229600" cy="822960"/>
          </a:xfrm>
          <a:prstGeom prst="roundRect">
            <a:avLst>
              <a:gd name="adj" fmla="val 8889"/>
            </a:avLst>
          </a:prstGeom>
          <a:solidFill>
            <a:schemeClr val="bg2"/>
          </a:solidFill>
          <a:ln w="12700">
            <a:solidFill>
              <a:schemeClr val="bg2"/>
            </a:solidFill>
            <a:prstDash val="solid"/>
          </a:ln>
        </p:spPr>
      </p:sp>
      <p:sp>
        <p:nvSpPr>
          <p:cNvPr id="35" name="Text 33"/>
          <p:cNvSpPr txBox="1"/>
          <p:nvPr/>
        </p:nvSpPr>
        <p:spPr>
          <a:xfrm>
            <a:off x="594360" y="3840480"/>
            <a:ext cx="7955280" cy="7315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Where we differ from the brief:  </a:t>
            </a:r>
            <a:pPr indent="0" marL="0">
              <a:buNone/>
            </a:pPr>
            <a:r>
              <a:rPr lang="en-US" sz="1200" dirty="0">
                <a:solidFill>
                  <a:schemeClr val="tx1"/>
                </a:solidFill>
                <a:latin typeface="Calibri" pitchFamily="34" charset="0"/>
                <a:ea typeface="Calibri" pitchFamily="34" charset="-122"/>
                <a:cs typeface="Calibri" pitchFamily="34" charset="-120"/>
              </a:rPr>
              <a:t>a durable PostgreSQL job queue replaces Redis + Celery; MongoDB is retired (PostgreSQL only); the whole stack runs in Docker.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Technology stack</a:t>
            </a:r>
            <a:endParaRPr lang="en-US" sz="3000" dirty="0"/>
          </a:p>
        </p:txBody>
      </p:sp>
      <p:sp>
        <p:nvSpPr>
          <p:cNvPr id="3" name="Shape 1"/>
          <p:cNvSpPr/>
          <p:nvPr/>
        </p:nvSpPr>
        <p:spPr>
          <a:xfrm>
            <a:off x="457200" y="1097280"/>
            <a:ext cx="2651760" cy="1463040"/>
          </a:xfrm>
          <a:prstGeom prst="roundRect">
            <a:avLst>
              <a:gd name="adj" fmla="val 5000"/>
            </a:avLst>
          </a:prstGeom>
          <a:solidFill>
            <a:schemeClr val="bg2"/>
          </a:solidFill>
          <a:ln w="12700">
            <a:solidFill>
              <a:schemeClr val="bg2"/>
            </a:solidFill>
            <a:prstDash val="solid"/>
          </a:ln>
        </p:spPr>
        <p:txBody>
          <a:bodyPr/>
          <a:p/>
        </p:txBody>
      </p:sp>
      <p:sp>
        <p:nvSpPr>
          <p:cNvPr id="4" name="Shape 2"/>
          <p:cNvSpPr/>
          <p:nvPr/>
        </p:nvSpPr>
        <p:spPr>
          <a:xfrm>
            <a:off x="594360" y="1234440"/>
            <a:ext cx="457200" cy="457200"/>
          </a:xfrm>
          <a:prstGeom prst="ellipse">
            <a:avLst/>
          </a:prstGeom>
          <a:solidFill>
            <a:schemeClr val="accent4"/>
          </a:solidFill>
          <a:ln w="12700">
            <a:solidFill>
              <a:schemeClr val="accent4"/>
            </a:solidFill>
            <a:prstDash val="solid"/>
          </a:ln>
        </p:spPr>
        <p:txBody>
          <a:bodyPr/>
          <a:p/>
        </p:txBody>
      </p:sp>
      <p:pic>
        <p:nvPicPr>
          <p:cNvPr id="5" name="Image 0" descr="preencoded.png">    </p:cNvPr>
          <p:cNvPicPr>
            <a:picLocks noChangeAspect="1"/>
          </p:cNvPicPr>
          <p:nvPr/>
        </p:nvPicPr>
        <p:blipFill>
          <a:blip r:embed="rId1"/>
          <a:stretch>
            <a:fillRect/>
          </a:stretch>
        </p:blipFill>
        <p:spPr>
          <a:xfrm>
            <a:off x="717804" y="1357884"/>
            <a:ext cx="210312" cy="210312"/>
          </a:xfrm>
          <a:prstGeom prst="rect">
            <a:avLst/>
          </a:prstGeom>
        </p:spPr>
      </p:pic>
      <p:sp>
        <p:nvSpPr>
          <p:cNvPr id="6" name="Text 3"/>
          <p:cNvSpPr txBox="1"/>
          <p:nvPr/>
        </p:nvSpPr>
        <p:spPr>
          <a:xfrm>
            <a:off x="1170432" y="12344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Backend</a:t>
            </a:r>
            <a:endParaRPr lang="en-US" sz="1500" dirty="0"/>
          </a:p>
        </p:txBody>
      </p:sp>
      <p:sp>
        <p:nvSpPr>
          <p:cNvPr id="7" name="Text 4"/>
          <p:cNvSpPr txBox="1"/>
          <p:nvPr/>
        </p:nvSpPr>
        <p:spPr>
          <a:xfrm>
            <a:off x="594360" y="18105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Python, FastAPI, SQLAlchemy, Pydantic, Alembic, Uvicorn</a:t>
            </a:r>
            <a:endParaRPr lang="en-US" sz="1200" dirty="0"/>
          </a:p>
        </p:txBody>
      </p:sp>
      <p:sp>
        <p:nvSpPr>
          <p:cNvPr id="8" name="Shape 5"/>
          <p:cNvSpPr/>
          <p:nvPr/>
        </p:nvSpPr>
        <p:spPr>
          <a:xfrm>
            <a:off x="3246120" y="1097280"/>
            <a:ext cx="2651760" cy="1463040"/>
          </a:xfrm>
          <a:prstGeom prst="roundRect">
            <a:avLst>
              <a:gd name="adj" fmla="val 5000"/>
            </a:avLst>
          </a:prstGeom>
          <a:solidFill>
            <a:schemeClr val="bg2"/>
          </a:solidFill>
          <a:ln w="12700">
            <a:solidFill>
              <a:schemeClr val="bg2"/>
            </a:solidFill>
            <a:prstDash val="solid"/>
          </a:ln>
        </p:spPr>
        <p:txBody>
          <a:bodyPr/>
          <a:p/>
        </p:txBody>
      </p:sp>
      <p:sp>
        <p:nvSpPr>
          <p:cNvPr id="9" name="Shape 6"/>
          <p:cNvSpPr/>
          <p:nvPr/>
        </p:nvSpPr>
        <p:spPr>
          <a:xfrm>
            <a:off x="3383280" y="1234440"/>
            <a:ext cx="457200" cy="457200"/>
          </a:xfrm>
          <a:prstGeom prst="ellipse">
            <a:avLst/>
          </a:prstGeom>
          <a:solidFill>
            <a:schemeClr val="accent2"/>
          </a:solidFill>
          <a:ln w="12700">
            <a:solidFill>
              <a:schemeClr val="accent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3506724" y="1357884"/>
            <a:ext cx="210312" cy="210312"/>
          </a:xfrm>
          <a:prstGeom prst="rect">
            <a:avLst/>
          </a:prstGeom>
        </p:spPr>
      </p:pic>
      <p:sp>
        <p:nvSpPr>
          <p:cNvPr id="11" name="Text 7"/>
          <p:cNvSpPr txBox="1"/>
          <p:nvPr/>
        </p:nvSpPr>
        <p:spPr>
          <a:xfrm>
            <a:off x="3959352" y="12344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Frontend</a:t>
            </a:r>
            <a:endParaRPr lang="en-US" sz="1500" dirty="0"/>
          </a:p>
        </p:txBody>
      </p:sp>
      <p:sp>
        <p:nvSpPr>
          <p:cNvPr id="12" name="Text 8"/>
          <p:cNvSpPr txBox="1"/>
          <p:nvPr/>
        </p:nvSpPr>
        <p:spPr>
          <a:xfrm>
            <a:off x="3383280" y="18105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React 19, Vite, Recharts for charts, Lucide icons</a:t>
            </a:r>
            <a:endParaRPr lang="en-US" sz="1200" dirty="0"/>
          </a:p>
        </p:txBody>
      </p:sp>
      <p:sp>
        <p:nvSpPr>
          <p:cNvPr id="13" name="Shape 9"/>
          <p:cNvSpPr/>
          <p:nvPr/>
        </p:nvSpPr>
        <p:spPr>
          <a:xfrm>
            <a:off x="6035040" y="1097280"/>
            <a:ext cx="2651760" cy="1463040"/>
          </a:xfrm>
          <a:prstGeom prst="roundRect">
            <a:avLst>
              <a:gd name="adj" fmla="val 5000"/>
            </a:avLst>
          </a:prstGeom>
          <a:solidFill>
            <a:schemeClr val="bg2"/>
          </a:solidFill>
          <a:ln w="12700">
            <a:solidFill>
              <a:schemeClr val="bg2"/>
            </a:solidFill>
            <a:prstDash val="solid"/>
          </a:ln>
        </p:spPr>
        <p:txBody>
          <a:bodyPr/>
          <a:p/>
        </p:txBody>
      </p:sp>
      <p:sp>
        <p:nvSpPr>
          <p:cNvPr id="14" name="Shape 10"/>
          <p:cNvSpPr/>
          <p:nvPr/>
        </p:nvSpPr>
        <p:spPr>
          <a:xfrm>
            <a:off x="6172200" y="1234440"/>
            <a:ext cx="457200" cy="457200"/>
          </a:xfrm>
          <a:prstGeom prst="ellipse">
            <a:avLst/>
          </a:prstGeom>
          <a:solidFill>
            <a:schemeClr val="tx2"/>
          </a:solidFill>
          <a:ln w="12700">
            <a:solidFill>
              <a:schemeClr val="tx2"/>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295644" y="1357884"/>
            <a:ext cx="210312" cy="210312"/>
          </a:xfrm>
          <a:prstGeom prst="rect">
            <a:avLst/>
          </a:prstGeom>
        </p:spPr>
      </p:pic>
      <p:sp>
        <p:nvSpPr>
          <p:cNvPr id="16" name="Text 11"/>
          <p:cNvSpPr txBox="1"/>
          <p:nvPr/>
        </p:nvSpPr>
        <p:spPr>
          <a:xfrm>
            <a:off x="6748272" y="12344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Data and files</a:t>
            </a:r>
            <a:endParaRPr lang="en-US" sz="1500" dirty="0"/>
          </a:p>
        </p:txBody>
      </p:sp>
      <p:sp>
        <p:nvSpPr>
          <p:cNvPr id="17" name="Text 12"/>
          <p:cNvSpPr txBox="1"/>
          <p:nvPr/>
        </p:nvSpPr>
        <p:spPr>
          <a:xfrm>
            <a:off x="6172200" y="18105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PostgreSQL 17, psycopg, ReportLab (PDF), openpyxl (Excel)</a:t>
            </a:r>
            <a:endParaRPr lang="en-US" sz="1200" dirty="0"/>
          </a:p>
        </p:txBody>
      </p:sp>
      <p:sp>
        <p:nvSpPr>
          <p:cNvPr id="18" name="Shape 13"/>
          <p:cNvSpPr/>
          <p:nvPr/>
        </p:nvSpPr>
        <p:spPr>
          <a:xfrm>
            <a:off x="457200" y="2697480"/>
            <a:ext cx="2651760" cy="1463040"/>
          </a:xfrm>
          <a:prstGeom prst="roundRect">
            <a:avLst>
              <a:gd name="adj" fmla="val 5000"/>
            </a:avLst>
          </a:prstGeom>
          <a:solidFill>
            <a:schemeClr val="bg2"/>
          </a:solidFill>
          <a:ln w="12700">
            <a:solidFill>
              <a:schemeClr val="bg2"/>
            </a:solidFill>
            <a:prstDash val="solid"/>
          </a:ln>
        </p:spPr>
        <p:txBody>
          <a:bodyPr/>
          <a:p/>
        </p:txBody>
      </p:sp>
      <p:sp>
        <p:nvSpPr>
          <p:cNvPr id="19" name="Shape 14"/>
          <p:cNvSpPr/>
          <p:nvPr/>
        </p:nvSpPr>
        <p:spPr>
          <a:xfrm>
            <a:off x="594360" y="2834640"/>
            <a:ext cx="457200" cy="457200"/>
          </a:xfrm>
          <a:prstGeom prst="ellipse">
            <a:avLst/>
          </a:prstGeom>
          <a:solidFill>
            <a:schemeClr val="accent1"/>
          </a:solidFill>
          <a:ln w="12700">
            <a:solidFill>
              <a:schemeClr val="accent1"/>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717804" y="2958084"/>
            <a:ext cx="210312" cy="210312"/>
          </a:xfrm>
          <a:prstGeom prst="rect">
            <a:avLst/>
          </a:prstGeom>
        </p:spPr>
      </p:pic>
      <p:sp>
        <p:nvSpPr>
          <p:cNvPr id="21" name="Text 15"/>
          <p:cNvSpPr txBox="1"/>
          <p:nvPr/>
        </p:nvSpPr>
        <p:spPr>
          <a:xfrm>
            <a:off x="1170432" y="28346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Security</a:t>
            </a:r>
            <a:endParaRPr lang="en-US" sz="1500" dirty="0"/>
          </a:p>
        </p:txBody>
      </p:sp>
      <p:sp>
        <p:nvSpPr>
          <p:cNvPr id="22" name="Text 16"/>
          <p:cNvSpPr txBox="1"/>
          <p:nvPr/>
        </p:nvSpPr>
        <p:spPr>
          <a:xfrm>
            <a:off x="594360" y="34107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PyJWT, Argon2 password hashing, Fernet encryption, web push</a:t>
            </a:r>
            <a:endParaRPr lang="en-US" sz="1200" dirty="0"/>
          </a:p>
        </p:txBody>
      </p:sp>
      <p:sp>
        <p:nvSpPr>
          <p:cNvPr id="23" name="Shape 17"/>
          <p:cNvSpPr/>
          <p:nvPr/>
        </p:nvSpPr>
        <p:spPr>
          <a:xfrm>
            <a:off x="3246120" y="2697480"/>
            <a:ext cx="2651760" cy="1463040"/>
          </a:xfrm>
          <a:prstGeom prst="roundRect">
            <a:avLst>
              <a:gd name="adj" fmla="val 5000"/>
            </a:avLst>
          </a:prstGeom>
          <a:solidFill>
            <a:schemeClr val="bg2"/>
          </a:solidFill>
          <a:ln w="12700">
            <a:solidFill>
              <a:schemeClr val="bg2"/>
            </a:solidFill>
            <a:prstDash val="solid"/>
          </a:ln>
        </p:spPr>
        <p:txBody>
          <a:bodyPr/>
          <a:p/>
        </p:txBody>
      </p:sp>
      <p:sp>
        <p:nvSpPr>
          <p:cNvPr id="24" name="Shape 18"/>
          <p:cNvSpPr/>
          <p:nvPr/>
        </p:nvSpPr>
        <p:spPr>
          <a:xfrm>
            <a:off x="3383280" y="2834640"/>
            <a:ext cx="457200" cy="457200"/>
          </a:xfrm>
          <a:prstGeom prst="ellipse">
            <a:avLst/>
          </a:prstGeom>
          <a:solidFill>
            <a:schemeClr val="accent3"/>
          </a:solidFill>
          <a:ln w="12700">
            <a:solidFill>
              <a:schemeClr val="accent3"/>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3506724" y="2958084"/>
            <a:ext cx="210312" cy="210312"/>
          </a:xfrm>
          <a:prstGeom prst="rect">
            <a:avLst/>
          </a:prstGeom>
        </p:spPr>
      </p:pic>
      <p:sp>
        <p:nvSpPr>
          <p:cNvPr id="26" name="Text 19"/>
          <p:cNvSpPr txBox="1"/>
          <p:nvPr/>
        </p:nvSpPr>
        <p:spPr>
          <a:xfrm>
            <a:off x="3959352" y="28346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Platform APIs</a:t>
            </a:r>
            <a:endParaRPr lang="en-US" sz="1500" dirty="0"/>
          </a:p>
        </p:txBody>
      </p:sp>
      <p:sp>
        <p:nvSpPr>
          <p:cNvPr id="27" name="Text 20"/>
          <p:cNvSpPr txBox="1"/>
          <p:nvPr/>
        </p:nvSpPr>
        <p:spPr>
          <a:xfrm>
            <a:off x="3383280" y="34107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Facebook and Instagram Graph, LinkedIn, X, YouTube Data</a:t>
            </a:r>
            <a:endParaRPr lang="en-US" sz="1200" dirty="0"/>
          </a:p>
        </p:txBody>
      </p:sp>
      <p:sp>
        <p:nvSpPr>
          <p:cNvPr id="28" name="Shape 21"/>
          <p:cNvSpPr/>
          <p:nvPr/>
        </p:nvSpPr>
        <p:spPr>
          <a:xfrm>
            <a:off x="6035040" y="2697480"/>
            <a:ext cx="2651760" cy="1463040"/>
          </a:xfrm>
          <a:prstGeom prst="roundRect">
            <a:avLst>
              <a:gd name="adj" fmla="val 5000"/>
            </a:avLst>
          </a:prstGeom>
          <a:solidFill>
            <a:schemeClr val="bg2"/>
          </a:solidFill>
          <a:ln w="12700">
            <a:solidFill>
              <a:schemeClr val="bg2"/>
            </a:solidFill>
            <a:prstDash val="solid"/>
          </a:ln>
        </p:spPr>
        <p:txBody>
          <a:bodyPr/>
          <a:p/>
        </p:txBody>
      </p:sp>
      <p:sp>
        <p:nvSpPr>
          <p:cNvPr id="29" name="Shape 22"/>
          <p:cNvSpPr/>
          <p:nvPr/>
        </p:nvSpPr>
        <p:spPr>
          <a:xfrm>
            <a:off x="6172200" y="2834640"/>
            <a:ext cx="457200" cy="457200"/>
          </a:xfrm>
          <a:prstGeom prst="ellipse">
            <a:avLst/>
          </a:prstGeom>
          <a:solidFill>
            <a:schemeClr val="accent6"/>
          </a:solidFill>
          <a:ln w="12700">
            <a:solidFill>
              <a:schemeClr val="accent6"/>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6295644" y="2958084"/>
            <a:ext cx="210312" cy="210312"/>
          </a:xfrm>
          <a:prstGeom prst="rect">
            <a:avLst/>
          </a:prstGeom>
        </p:spPr>
      </p:pic>
      <p:sp>
        <p:nvSpPr>
          <p:cNvPr id="31" name="Text 23"/>
          <p:cNvSpPr txBox="1"/>
          <p:nvPr/>
        </p:nvSpPr>
        <p:spPr>
          <a:xfrm>
            <a:off x="6748272" y="28346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Delivery</a:t>
            </a:r>
            <a:endParaRPr lang="en-US" sz="1500" dirty="0"/>
          </a:p>
        </p:txBody>
      </p:sp>
      <p:sp>
        <p:nvSpPr>
          <p:cNvPr id="32" name="Text 24"/>
          <p:cNvSpPr txBox="1"/>
          <p:nvPr/>
        </p:nvSpPr>
        <p:spPr>
          <a:xfrm>
            <a:off x="6172200" y="34107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Docker, nginx, Vercel, Render, Neon, GitHub Actions</a:t>
            </a:r>
            <a:endParaRPr lang="en-US" sz="1200" dirty="0"/>
          </a:p>
        </p:txBody>
      </p:sp>
      <p:sp>
        <p:nvSpPr>
          <p:cNvPr id="33" name="Text 25"/>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From the brief's list, Redis, Celery and MongoDB are not used: PostgreSQL holds the data and the job queue.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modules we built</a:t>
            </a:r>
            <a:endParaRPr lang="en-US" sz="3000" dirty="0"/>
          </a:p>
        </p:txBody>
      </p:sp>
      <p:sp>
        <p:nvSpPr>
          <p:cNvPr id="3" name="Shape 1"/>
          <p:cNvSpPr/>
          <p:nvPr/>
        </p:nvSpPr>
        <p:spPr>
          <a:xfrm>
            <a:off x="457200" y="1097280"/>
            <a:ext cx="1965960" cy="1645920"/>
          </a:xfrm>
          <a:prstGeom prst="roundRect">
            <a:avLst>
              <a:gd name="adj" fmla="val 4444"/>
            </a:avLst>
          </a:prstGeom>
          <a:solidFill>
            <a:schemeClr val="bg2"/>
          </a:solidFill>
          <a:ln w="12700">
            <a:solidFill>
              <a:schemeClr val="bg2"/>
            </a:solidFill>
            <a:prstDash val="solid"/>
          </a:ln>
        </p:spPr>
      </p:sp>
      <p:sp>
        <p:nvSpPr>
          <p:cNvPr id="4" name="Text 2"/>
          <p:cNvSpPr txBox="1"/>
          <p:nvPr/>
        </p:nvSpPr>
        <p:spPr>
          <a:xfrm>
            <a:off x="594360" y="120700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1. User management</a:t>
            </a:r>
            <a:endParaRPr lang="en-US" sz="1400" dirty="0"/>
          </a:p>
        </p:txBody>
      </p:sp>
      <p:sp>
        <p:nvSpPr>
          <p:cNvPr id="5" name="Text 3"/>
          <p:cNvSpPr txBox="1"/>
          <p:nvPr/>
        </p:nvSpPr>
        <p:spPr>
          <a:xfrm>
            <a:off x="594360" y="173736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4 roles, teams, invitations</a:t>
            </a:r>
            <a:endParaRPr lang="en-US" sz="1100" dirty="0"/>
          </a:p>
        </p:txBody>
      </p:sp>
      <p:sp>
        <p:nvSpPr>
          <p:cNvPr id="6" name="Shape 4"/>
          <p:cNvSpPr/>
          <p:nvPr/>
        </p:nvSpPr>
        <p:spPr>
          <a:xfrm>
            <a:off x="594360" y="2377440"/>
            <a:ext cx="777240" cy="237744"/>
          </a:xfrm>
          <a:prstGeom prst="roundRect">
            <a:avLst>
              <a:gd name="adj" fmla="val 50000"/>
            </a:avLst>
          </a:prstGeom>
          <a:solidFill>
            <a:schemeClr val="accent6"/>
          </a:solidFill>
          <a:ln w="12700">
            <a:solidFill>
              <a:schemeClr val="accent6"/>
            </a:solidFill>
            <a:prstDash val="solid"/>
          </a:ln>
        </p:spPr>
      </p:sp>
      <p:sp>
        <p:nvSpPr>
          <p:cNvPr id="7" name="Text 5"/>
          <p:cNvSpPr txBox="1"/>
          <p:nvPr/>
        </p:nvSpPr>
        <p:spPr>
          <a:xfrm>
            <a:off x="594360" y="237744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8" name="Shape 6"/>
          <p:cNvSpPr/>
          <p:nvPr/>
        </p:nvSpPr>
        <p:spPr>
          <a:xfrm>
            <a:off x="2542032" y="1097280"/>
            <a:ext cx="1965960" cy="1645920"/>
          </a:xfrm>
          <a:prstGeom prst="roundRect">
            <a:avLst>
              <a:gd name="adj" fmla="val 4444"/>
            </a:avLst>
          </a:prstGeom>
          <a:solidFill>
            <a:schemeClr val="bg2"/>
          </a:solidFill>
          <a:ln w="12700">
            <a:solidFill>
              <a:schemeClr val="bg2"/>
            </a:solidFill>
            <a:prstDash val="solid"/>
          </a:ln>
        </p:spPr>
      </p:sp>
      <p:sp>
        <p:nvSpPr>
          <p:cNvPr id="9" name="Text 7"/>
          <p:cNvSpPr txBox="1"/>
          <p:nvPr/>
        </p:nvSpPr>
        <p:spPr>
          <a:xfrm>
            <a:off x="2679192" y="120700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2. Social accounts</a:t>
            </a:r>
            <a:endParaRPr lang="en-US" sz="1400" dirty="0"/>
          </a:p>
        </p:txBody>
      </p:sp>
      <p:sp>
        <p:nvSpPr>
          <p:cNvPr id="10" name="Text 8"/>
          <p:cNvSpPr txBox="1"/>
          <p:nvPr/>
        </p:nvSpPr>
        <p:spPr>
          <a:xfrm>
            <a:off x="2679192" y="173736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OAuth for 5 platforms, encrypted tokens, reconnect</a:t>
            </a:r>
            <a:endParaRPr lang="en-US" sz="1100" dirty="0"/>
          </a:p>
        </p:txBody>
      </p:sp>
      <p:sp>
        <p:nvSpPr>
          <p:cNvPr id="11" name="Shape 9"/>
          <p:cNvSpPr/>
          <p:nvPr/>
        </p:nvSpPr>
        <p:spPr>
          <a:xfrm>
            <a:off x="2679192" y="2377440"/>
            <a:ext cx="777240" cy="237744"/>
          </a:xfrm>
          <a:prstGeom prst="roundRect">
            <a:avLst>
              <a:gd name="adj" fmla="val 50000"/>
            </a:avLst>
          </a:prstGeom>
          <a:solidFill>
            <a:schemeClr val="accent6"/>
          </a:solidFill>
          <a:ln w="12700">
            <a:solidFill>
              <a:schemeClr val="accent6"/>
            </a:solidFill>
            <a:prstDash val="solid"/>
          </a:ln>
        </p:spPr>
      </p:sp>
      <p:sp>
        <p:nvSpPr>
          <p:cNvPr id="12" name="Text 10"/>
          <p:cNvSpPr txBox="1"/>
          <p:nvPr/>
        </p:nvSpPr>
        <p:spPr>
          <a:xfrm>
            <a:off x="2679192" y="237744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13" name="Shape 11"/>
          <p:cNvSpPr/>
          <p:nvPr/>
        </p:nvSpPr>
        <p:spPr>
          <a:xfrm>
            <a:off x="4626864" y="1097280"/>
            <a:ext cx="1965960" cy="1645920"/>
          </a:xfrm>
          <a:prstGeom prst="roundRect">
            <a:avLst>
              <a:gd name="adj" fmla="val 4444"/>
            </a:avLst>
          </a:prstGeom>
          <a:solidFill>
            <a:schemeClr val="bg2"/>
          </a:solidFill>
          <a:ln w="12700">
            <a:solidFill>
              <a:schemeClr val="bg2"/>
            </a:solidFill>
            <a:prstDash val="solid"/>
          </a:ln>
        </p:spPr>
      </p:sp>
      <p:sp>
        <p:nvSpPr>
          <p:cNvPr id="14" name="Text 12"/>
          <p:cNvSpPr txBox="1"/>
          <p:nvPr/>
        </p:nvSpPr>
        <p:spPr>
          <a:xfrm>
            <a:off x="4764024" y="120700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3. Content scheduling</a:t>
            </a:r>
            <a:endParaRPr lang="en-US" sz="1400" dirty="0"/>
          </a:p>
        </p:txBody>
      </p:sp>
      <p:sp>
        <p:nvSpPr>
          <p:cNvPr id="15" name="Text 13"/>
          <p:cNvSpPr txBox="1"/>
          <p:nvPr/>
        </p:nvSpPr>
        <p:spPr>
          <a:xfrm>
            <a:off x="4764024" y="173736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Drafts, preview, calendar, recurring posts, queue</a:t>
            </a:r>
            <a:endParaRPr lang="en-US" sz="1100" dirty="0"/>
          </a:p>
        </p:txBody>
      </p:sp>
      <p:sp>
        <p:nvSpPr>
          <p:cNvPr id="16" name="Shape 14"/>
          <p:cNvSpPr/>
          <p:nvPr/>
        </p:nvSpPr>
        <p:spPr>
          <a:xfrm>
            <a:off x="4764024" y="2377440"/>
            <a:ext cx="777240" cy="237744"/>
          </a:xfrm>
          <a:prstGeom prst="roundRect">
            <a:avLst>
              <a:gd name="adj" fmla="val 50000"/>
            </a:avLst>
          </a:prstGeom>
          <a:solidFill>
            <a:schemeClr val="accent6"/>
          </a:solidFill>
          <a:ln w="12700">
            <a:solidFill>
              <a:schemeClr val="accent6"/>
            </a:solidFill>
            <a:prstDash val="solid"/>
          </a:ln>
        </p:spPr>
      </p:sp>
      <p:sp>
        <p:nvSpPr>
          <p:cNvPr id="17" name="Text 15"/>
          <p:cNvSpPr txBox="1"/>
          <p:nvPr/>
        </p:nvSpPr>
        <p:spPr>
          <a:xfrm>
            <a:off x="4764024" y="237744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18" name="Shape 16"/>
          <p:cNvSpPr/>
          <p:nvPr/>
        </p:nvSpPr>
        <p:spPr>
          <a:xfrm>
            <a:off x="6711696" y="1097280"/>
            <a:ext cx="1965960" cy="1645920"/>
          </a:xfrm>
          <a:prstGeom prst="roundRect">
            <a:avLst>
              <a:gd name="adj" fmla="val 4444"/>
            </a:avLst>
          </a:prstGeom>
          <a:solidFill>
            <a:schemeClr val="bg2"/>
          </a:solidFill>
          <a:ln w="12700">
            <a:solidFill>
              <a:schemeClr val="bg2"/>
            </a:solidFill>
            <a:prstDash val="solid"/>
          </a:ln>
        </p:spPr>
      </p:sp>
      <p:sp>
        <p:nvSpPr>
          <p:cNvPr id="19" name="Text 17"/>
          <p:cNvSpPr txBox="1"/>
          <p:nvPr/>
        </p:nvSpPr>
        <p:spPr>
          <a:xfrm>
            <a:off x="6848856" y="120700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4. Campaign management</a:t>
            </a:r>
            <a:endParaRPr lang="en-US" sz="1400" dirty="0"/>
          </a:p>
        </p:txBody>
      </p:sp>
      <p:sp>
        <p:nvSpPr>
          <p:cNvPr id="20" name="Text 18"/>
          <p:cNvSpPr txBox="1"/>
          <p:nvPr/>
        </p:nvSpPr>
        <p:spPr>
          <a:xfrm>
            <a:off x="6848856" y="173736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Budget, dates, objectives, grouped posts</a:t>
            </a:r>
            <a:endParaRPr lang="en-US" sz="1100" dirty="0"/>
          </a:p>
        </p:txBody>
      </p:sp>
      <p:sp>
        <p:nvSpPr>
          <p:cNvPr id="21" name="Shape 19"/>
          <p:cNvSpPr/>
          <p:nvPr/>
        </p:nvSpPr>
        <p:spPr>
          <a:xfrm>
            <a:off x="6848856" y="2377440"/>
            <a:ext cx="777240" cy="237744"/>
          </a:xfrm>
          <a:prstGeom prst="roundRect">
            <a:avLst>
              <a:gd name="adj" fmla="val 50000"/>
            </a:avLst>
          </a:prstGeom>
          <a:solidFill>
            <a:schemeClr val="accent6"/>
          </a:solidFill>
          <a:ln w="12700">
            <a:solidFill>
              <a:schemeClr val="accent6"/>
            </a:solidFill>
            <a:prstDash val="solid"/>
          </a:ln>
        </p:spPr>
      </p:sp>
      <p:sp>
        <p:nvSpPr>
          <p:cNvPr id="22" name="Text 20"/>
          <p:cNvSpPr txBox="1"/>
          <p:nvPr/>
        </p:nvSpPr>
        <p:spPr>
          <a:xfrm>
            <a:off x="6848856" y="237744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23" name="Shape 21"/>
          <p:cNvSpPr/>
          <p:nvPr/>
        </p:nvSpPr>
        <p:spPr>
          <a:xfrm>
            <a:off x="457200" y="2880360"/>
            <a:ext cx="1965960" cy="1645920"/>
          </a:xfrm>
          <a:prstGeom prst="roundRect">
            <a:avLst>
              <a:gd name="adj" fmla="val 4444"/>
            </a:avLst>
          </a:prstGeom>
          <a:solidFill>
            <a:schemeClr val="bg2"/>
          </a:solidFill>
          <a:ln w="12700">
            <a:solidFill>
              <a:schemeClr val="bg2"/>
            </a:solidFill>
            <a:prstDash val="solid"/>
          </a:ln>
        </p:spPr>
      </p:sp>
      <p:sp>
        <p:nvSpPr>
          <p:cNvPr id="24" name="Text 22"/>
          <p:cNvSpPr txBox="1"/>
          <p:nvPr/>
        </p:nvSpPr>
        <p:spPr>
          <a:xfrm>
            <a:off x="594360" y="299008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5. Multi-platform publishing</a:t>
            </a:r>
            <a:endParaRPr lang="en-US" sz="1400" dirty="0"/>
          </a:p>
        </p:txBody>
      </p:sp>
      <p:sp>
        <p:nvSpPr>
          <p:cNvPr id="25" name="Text 23"/>
          <p:cNvSpPr txBox="1"/>
          <p:nvPr/>
        </p:nvSpPr>
        <p:spPr>
          <a:xfrm>
            <a:off x="594360" y="352044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Worker, retry, logs, status tracking</a:t>
            </a:r>
            <a:endParaRPr lang="en-US" sz="1100" dirty="0"/>
          </a:p>
        </p:txBody>
      </p:sp>
      <p:sp>
        <p:nvSpPr>
          <p:cNvPr id="26" name="Shape 24"/>
          <p:cNvSpPr/>
          <p:nvPr/>
        </p:nvSpPr>
        <p:spPr>
          <a:xfrm>
            <a:off x="594360" y="4160520"/>
            <a:ext cx="777240" cy="237744"/>
          </a:xfrm>
          <a:prstGeom prst="roundRect">
            <a:avLst>
              <a:gd name="adj" fmla="val 50000"/>
            </a:avLst>
          </a:prstGeom>
          <a:solidFill>
            <a:schemeClr val="accent6"/>
          </a:solidFill>
          <a:ln w="12700">
            <a:solidFill>
              <a:schemeClr val="accent6"/>
            </a:solidFill>
            <a:prstDash val="solid"/>
          </a:ln>
        </p:spPr>
      </p:sp>
      <p:sp>
        <p:nvSpPr>
          <p:cNvPr id="27" name="Text 25"/>
          <p:cNvSpPr txBox="1"/>
          <p:nvPr/>
        </p:nvSpPr>
        <p:spPr>
          <a:xfrm>
            <a:off x="594360" y="416052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28" name="Shape 26"/>
          <p:cNvSpPr/>
          <p:nvPr/>
        </p:nvSpPr>
        <p:spPr>
          <a:xfrm>
            <a:off x="2542032" y="2880360"/>
            <a:ext cx="1965960" cy="1645920"/>
          </a:xfrm>
          <a:prstGeom prst="roundRect">
            <a:avLst>
              <a:gd name="adj" fmla="val 4444"/>
            </a:avLst>
          </a:prstGeom>
          <a:solidFill>
            <a:schemeClr val="bg2"/>
          </a:solidFill>
          <a:ln w="12700">
            <a:solidFill>
              <a:schemeClr val="bg2"/>
            </a:solidFill>
            <a:prstDash val="solid"/>
          </a:ln>
        </p:spPr>
      </p:sp>
      <p:sp>
        <p:nvSpPr>
          <p:cNvPr id="29" name="Text 27"/>
          <p:cNvSpPr txBox="1"/>
          <p:nvPr/>
        </p:nvSpPr>
        <p:spPr>
          <a:xfrm>
            <a:off x="2679192" y="299008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6. Analytics dashboard</a:t>
            </a:r>
            <a:endParaRPr lang="en-US" sz="1400" dirty="0"/>
          </a:p>
        </p:txBody>
      </p:sp>
      <p:sp>
        <p:nvSpPr>
          <p:cNvPr id="30" name="Text 28"/>
          <p:cNvSpPr txBox="1"/>
          <p:nvPr/>
        </p:nvSpPr>
        <p:spPr>
          <a:xfrm>
            <a:off x="2679192" y="352044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Engagement, reach, clicks, follower growth, ROI</a:t>
            </a:r>
            <a:endParaRPr lang="en-US" sz="1100" dirty="0"/>
          </a:p>
        </p:txBody>
      </p:sp>
      <p:sp>
        <p:nvSpPr>
          <p:cNvPr id="31" name="Shape 29"/>
          <p:cNvSpPr/>
          <p:nvPr/>
        </p:nvSpPr>
        <p:spPr>
          <a:xfrm>
            <a:off x="2679192" y="4160520"/>
            <a:ext cx="777240" cy="237744"/>
          </a:xfrm>
          <a:prstGeom prst="roundRect">
            <a:avLst>
              <a:gd name="adj" fmla="val 50000"/>
            </a:avLst>
          </a:prstGeom>
          <a:solidFill>
            <a:schemeClr val="accent6"/>
          </a:solidFill>
          <a:ln w="12700">
            <a:solidFill>
              <a:schemeClr val="accent6"/>
            </a:solidFill>
            <a:prstDash val="solid"/>
          </a:ln>
        </p:spPr>
      </p:sp>
      <p:sp>
        <p:nvSpPr>
          <p:cNvPr id="32" name="Text 30"/>
          <p:cNvSpPr txBox="1"/>
          <p:nvPr/>
        </p:nvSpPr>
        <p:spPr>
          <a:xfrm>
            <a:off x="2679192" y="416052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33" name="Shape 31"/>
          <p:cNvSpPr/>
          <p:nvPr/>
        </p:nvSpPr>
        <p:spPr>
          <a:xfrm>
            <a:off x="4626864" y="2880360"/>
            <a:ext cx="1965960" cy="1645920"/>
          </a:xfrm>
          <a:prstGeom prst="roundRect">
            <a:avLst>
              <a:gd name="adj" fmla="val 4444"/>
            </a:avLst>
          </a:prstGeom>
          <a:solidFill>
            <a:schemeClr val="bg2"/>
          </a:solidFill>
          <a:ln w="12700">
            <a:solidFill>
              <a:schemeClr val="bg2"/>
            </a:solidFill>
            <a:prstDash val="solid"/>
          </a:ln>
        </p:spPr>
      </p:sp>
      <p:sp>
        <p:nvSpPr>
          <p:cNvPr id="34" name="Text 32"/>
          <p:cNvSpPr txBox="1"/>
          <p:nvPr/>
        </p:nvSpPr>
        <p:spPr>
          <a:xfrm>
            <a:off x="4764024" y="299008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7. Notifications</a:t>
            </a:r>
            <a:endParaRPr lang="en-US" sz="1400" dirty="0"/>
          </a:p>
        </p:txBody>
      </p:sp>
      <p:sp>
        <p:nvSpPr>
          <p:cNvPr id="35" name="Text 33"/>
          <p:cNvSpPr txBox="1"/>
          <p:nvPr/>
        </p:nvSpPr>
        <p:spPr>
          <a:xfrm>
            <a:off x="4764024" y="352044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Inbox, reminders, publishing and campaign alerts</a:t>
            </a:r>
            <a:endParaRPr lang="en-US" sz="1100" dirty="0"/>
          </a:p>
        </p:txBody>
      </p:sp>
      <p:sp>
        <p:nvSpPr>
          <p:cNvPr id="36" name="Shape 34"/>
          <p:cNvSpPr/>
          <p:nvPr/>
        </p:nvSpPr>
        <p:spPr>
          <a:xfrm>
            <a:off x="4764024" y="4160520"/>
            <a:ext cx="777240" cy="237744"/>
          </a:xfrm>
          <a:prstGeom prst="roundRect">
            <a:avLst>
              <a:gd name="adj" fmla="val 50000"/>
            </a:avLst>
          </a:prstGeom>
          <a:solidFill>
            <a:schemeClr val="accent6"/>
          </a:solidFill>
          <a:ln w="12700">
            <a:solidFill>
              <a:schemeClr val="accent6"/>
            </a:solidFill>
            <a:prstDash val="solid"/>
          </a:ln>
        </p:spPr>
      </p:sp>
      <p:sp>
        <p:nvSpPr>
          <p:cNvPr id="37" name="Text 35"/>
          <p:cNvSpPr txBox="1"/>
          <p:nvPr/>
        </p:nvSpPr>
        <p:spPr>
          <a:xfrm>
            <a:off x="4764024" y="416052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38" name="Shape 36"/>
          <p:cNvSpPr/>
          <p:nvPr/>
        </p:nvSpPr>
        <p:spPr>
          <a:xfrm>
            <a:off x="6711696" y="2880360"/>
            <a:ext cx="1965960" cy="1645920"/>
          </a:xfrm>
          <a:prstGeom prst="roundRect">
            <a:avLst>
              <a:gd name="adj" fmla="val 4444"/>
            </a:avLst>
          </a:prstGeom>
          <a:solidFill>
            <a:schemeClr val="bg2"/>
          </a:solidFill>
          <a:ln w="12700">
            <a:solidFill>
              <a:schemeClr val="bg2"/>
            </a:solidFill>
            <a:prstDash val="solid"/>
          </a:ln>
        </p:spPr>
      </p:sp>
      <p:sp>
        <p:nvSpPr>
          <p:cNvPr id="39" name="Text 37"/>
          <p:cNvSpPr txBox="1"/>
          <p:nvPr/>
        </p:nvSpPr>
        <p:spPr>
          <a:xfrm>
            <a:off x="6848856" y="2990088"/>
            <a:ext cx="1719072" cy="45720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8. Reports and export</a:t>
            </a:r>
            <a:endParaRPr lang="en-US" sz="1400" dirty="0"/>
          </a:p>
        </p:txBody>
      </p:sp>
      <p:sp>
        <p:nvSpPr>
          <p:cNvPr id="40" name="Text 38"/>
          <p:cNvSpPr txBox="1"/>
          <p:nvPr/>
        </p:nvSpPr>
        <p:spPr>
          <a:xfrm>
            <a:off x="6848856" y="3520440"/>
            <a:ext cx="1719072" cy="54864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Engagement, campaign and audience reports as PDF or Excel</a:t>
            </a:r>
            <a:endParaRPr lang="en-US" sz="1100" dirty="0"/>
          </a:p>
        </p:txBody>
      </p:sp>
      <p:sp>
        <p:nvSpPr>
          <p:cNvPr id="41" name="Shape 39"/>
          <p:cNvSpPr/>
          <p:nvPr/>
        </p:nvSpPr>
        <p:spPr>
          <a:xfrm>
            <a:off x="6848856" y="4160520"/>
            <a:ext cx="777240" cy="237744"/>
          </a:xfrm>
          <a:prstGeom prst="roundRect">
            <a:avLst>
              <a:gd name="adj" fmla="val 50000"/>
            </a:avLst>
          </a:prstGeom>
          <a:solidFill>
            <a:schemeClr val="accent6"/>
          </a:solidFill>
          <a:ln w="12700">
            <a:solidFill>
              <a:schemeClr val="accent6"/>
            </a:solidFill>
            <a:prstDash val="solid"/>
          </a:ln>
        </p:spPr>
      </p:sp>
      <p:sp>
        <p:nvSpPr>
          <p:cNvPr id="42" name="Text 40"/>
          <p:cNvSpPr txBox="1"/>
          <p:nvPr/>
        </p:nvSpPr>
        <p:spPr>
          <a:xfrm>
            <a:off x="6848856" y="4160520"/>
            <a:ext cx="777240"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DONE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Roles and the approval workflow</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3749040"/>
                <a:gridCol w="256032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0F1B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 do</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0F1B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Cannot do</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0F1B3D"/>
                    </a:solidFill>
                  </a:tcPr>
                </a:tc>
              </a:tr>
              <a:tr h="329184">
                <a:tc>
                  <a:txBody>
                    <a:bodyPr/>
                    <a:lstStyle/>
                    <a:p>
                      <a:pPr indent="0" marL="0">
                        <a:buNone/>
                      </a:pPr>
                      <a:r>
                        <a:rPr lang="en-US" sz="1200" b="1" dirty="0">
                          <a:solidFill>
                            <a:srgbClr val="1B2236"/>
                          </a:solidFill>
                          <a:latin typeface="Calibri" pitchFamily="34" charset="0"/>
                          <a:ea typeface="Calibri" pitchFamily="34" charset="-122"/>
                          <a:cs typeface="Calibri" pitchFamily="34" charset="-120"/>
                        </a:rPr>
                        <a:t>Content Creator</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Draft, final approval, connect accounts, schedule, publish</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r>
              <a:tr h="329184">
                <a:tc>
                  <a:txBody>
                    <a:bodyPr/>
                    <a:lstStyle/>
                    <a:p>
                      <a:pPr indent="0" marL="0">
                        <a:buNone/>
                      </a:pPr>
                      <a:r>
                        <a:rPr lang="en-US" sz="1200" b="1" dirty="0">
                          <a:solidFill>
                            <a:srgbClr val="1B2236"/>
                          </a:solidFill>
                          <a:latin typeface="Calibri" pitchFamily="34" charset="0"/>
                          <a:ea typeface="Calibri" pitchFamily="34" charset="-122"/>
                          <a:cs typeface="Calibri" pitchFamily="34" charset="-120"/>
                        </a:rPr>
                        <a:t>Marketing Manager</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Draft, review and approve content</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Publish, connect accounts</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r>
              <a:tr h="329184">
                <a:tc>
                  <a:txBody>
                    <a:bodyPr/>
                    <a:lstStyle/>
                    <a:p>
                      <a:pPr indent="0" marL="0">
                        <a:buNone/>
                      </a:pPr>
                      <a:r>
                        <a:rPr lang="en-US" sz="1200" b="1" dirty="0">
                          <a:solidFill>
                            <a:srgbClr val="1B2236"/>
                          </a:solidFill>
                          <a:latin typeface="Calibri" pitchFamily="34" charset="0"/>
                          <a:ea typeface="Calibri" pitchFamily="34" charset="-122"/>
                          <a:cs typeface="Calibri" pitchFamily="34" charset="-120"/>
                        </a:rPr>
                        <a:t>Business User</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View posts, campaigns, analytics, reports</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Any content action</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r>
              <a:tr h="329184">
                <a:tc>
                  <a:txBody>
                    <a:bodyPr/>
                    <a:lstStyle/>
                    <a:p>
                      <a:pPr indent="0" marL="0">
                        <a:buNone/>
                      </a:pPr>
                      <a:r>
                        <a:rPr lang="en-US" sz="1200" b="1" dirty="0">
                          <a:solidFill>
                            <a:srgbClr val="1B2236"/>
                          </a:solidFill>
                          <a:latin typeface="Calibri" pitchFamily="34" charset="0"/>
                          <a:ea typeface="Calibri" pitchFamily="34" charset="-122"/>
                          <a:cs typeface="Calibri" pitchFamily="34" charset="-120"/>
                        </a:rPr>
                        <a:t>Administrator</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Same view-only access</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c>
                  <a:txBody>
                    <a:bodyPr/>
                    <a:lstStyle/>
                    <a:p>
                      <a:pPr indent="0" marL="0">
                        <a:buNone/>
                      </a:pPr>
                      <a:r>
                        <a:rPr lang="en-US" sz="1200" dirty="0">
                          <a:solidFill>
                            <a:srgbClr val="1B2236"/>
                          </a:solidFill>
                          <a:latin typeface="Calibri" pitchFamily="34" charset="0"/>
                          <a:ea typeface="Calibri" pitchFamily="34" charset="-122"/>
                          <a:cs typeface="Calibri" pitchFamily="34" charset="-120"/>
                        </a:rPr>
                        <a:t>Any content action</a:t>
                      </a:r>
                      <a:endParaRPr lang="en-US" sz="12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tcPr>
                </a:tc>
              </a:tr>
            </a:tbl>
          </a:graphicData>
        </a:graphic>
      </p:graphicFrame>
      <p:sp>
        <p:nvSpPr>
          <p:cNvPr id="4" name="Text 1"/>
          <p:cNvSpPr txBox="1"/>
          <p:nvPr/>
        </p:nvSpPr>
        <p:spPr>
          <a:xfrm>
            <a:off x="457200" y="2880360"/>
            <a:ext cx="4572000" cy="27432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Content approval flow</a:t>
            </a:r>
            <a:endParaRPr lang="en-US" sz="1500" dirty="0"/>
          </a:p>
        </p:txBody>
      </p:sp>
      <p:sp>
        <p:nvSpPr>
          <p:cNvPr id="5" name="Shape 2"/>
          <p:cNvSpPr/>
          <p:nvPr/>
        </p:nvSpPr>
        <p:spPr>
          <a:xfrm>
            <a:off x="457200" y="3291840"/>
            <a:ext cx="1481328" cy="685800"/>
          </a:xfrm>
          <a:prstGeom prst="roundRect">
            <a:avLst>
              <a:gd name="adj" fmla="val 10667"/>
            </a:avLst>
          </a:prstGeom>
          <a:solidFill>
            <a:schemeClr val="accent5"/>
          </a:solidFill>
          <a:ln w="12700">
            <a:solidFill>
              <a:schemeClr val="accent5"/>
            </a:solidFill>
            <a:prstDash val="solid"/>
          </a:ln>
        </p:spPr>
      </p:sp>
      <p:sp>
        <p:nvSpPr>
          <p:cNvPr id="6" name="Text 3"/>
          <p:cNvSpPr txBox="1"/>
          <p:nvPr/>
        </p:nvSpPr>
        <p:spPr>
          <a:xfrm>
            <a:off x="502920" y="3291840"/>
            <a:ext cx="1389888"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Manager drafts</a:t>
            </a:r>
            <a:endParaRPr lang="en-US" sz="1200" dirty="0"/>
          </a:p>
        </p:txBody>
      </p:sp>
      <p:sp>
        <p:nvSpPr>
          <p:cNvPr id="7" name="Shape 4"/>
          <p:cNvSpPr/>
          <p:nvPr/>
        </p:nvSpPr>
        <p:spPr>
          <a:xfrm>
            <a:off x="1938528" y="3634740"/>
            <a:ext cx="182880" cy="0"/>
          </a:xfrm>
          <a:prstGeom prst="line">
            <a:avLst/>
          </a:prstGeom>
          <a:noFill/>
          <a:ln w="19050">
            <a:solidFill>
              <a:schemeClr val="accent5"/>
            </a:solidFill>
            <a:prstDash val="solid"/>
            <a:tailEnd type="triangle"/>
          </a:ln>
        </p:spPr>
      </p:sp>
      <p:sp>
        <p:nvSpPr>
          <p:cNvPr id="8" name="Shape 5"/>
          <p:cNvSpPr/>
          <p:nvPr/>
        </p:nvSpPr>
        <p:spPr>
          <a:xfrm>
            <a:off x="2121408" y="3291840"/>
            <a:ext cx="1481328" cy="685800"/>
          </a:xfrm>
          <a:prstGeom prst="roundRect">
            <a:avLst>
              <a:gd name="adj" fmla="val 10667"/>
            </a:avLst>
          </a:prstGeom>
          <a:solidFill>
            <a:schemeClr val="accent4"/>
          </a:solidFill>
          <a:ln w="12700">
            <a:solidFill>
              <a:schemeClr val="accent4"/>
            </a:solidFill>
            <a:prstDash val="solid"/>
          </a:ln>
        </p:spPr>
      </p:sp>
      <p:sp>
        <p:nvSpPr>
          <p:cNvPr id="9" name="Text 6"/>
          <p:cNvSpPr txBox="1"/>
          <p:nvPr/>
        </p:nvSpPr>
        <p:spPr>
          <a:xfrm>
            <a:off x="2167128" y="3291840"/>
            <a:ext cx="1389888"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Manager approves</a:t>
            </a:r>
            <a:endParaRPr lang="en-US" sz="1200" dirty="0"/>
          </a:p>
        </p:txBody>
      </p:sp>
      <p:sp>
        <p:nvSpPr>
          <p:cNvPr id="10" name="Shape 7"/>
          <p:cNvSpPr/>
          <p:nvPr/>
        </p:nvSpPr>
        <p:spPr>
          <a:xfrm>
            <a:off x="3602736" y="3634740"/>
            <a:ext cx="182880" cy="0"/>
          </a:xfrm>
          <a:prstGeom prst="line">
            <a:avLst/>
          </a:prstGeom>
          <a:noFill/>
          <a:ln w="19050">
            <a:solidFill>
              <a:schemeClr val="accent5"/>
            </a:solidFill>
            <a:prstDash val="solid"/>
            <a:tailEnd type="triangle"/>
          </a:ln>
        </p:spPr>
      </p:sp>
      <p:sp>
        <p:nvSpPr>
          <p:cNvPr id="11" name="Shape 8"/>
          <p:cNvSpPr/>
          <p:nvPr/>
        </p:nvSpPr>
        <p:spPr>
          <a:xfrm>
            <a:off x="3785616" y="3291840"/>
            <a:ext cx="1481328" cy="685800"/>
          </a:xfrm>
          <a:prstGeom prst="roundRect">
            <a:avLst>
              <a:gd name="adj" fmla="val 10667"/>
            </a:avLst>
          </a:prstGeom>
          <a:solidFill>
            <a:schemeClr val="accent3"/>
          </a:solidFill>
          <a:ln w="12700">
            <a:solidFill>
              <a:schemeClr val="accent3"/>
            </a:solidFill>
            <a:prstDash val="solid"/>
          </a:ln>
        </p:spPr>
      </p:sp>
      <p:sp>
        <p:nvSpPr>
          <p:cNvPr id="12" name="Text 9"/>
          <p:cNvSpPr txBox="1"/>
          <p:nvPr/>
        </p:nvSpPr>
        <p:spPr>
          <a:xfrm>
            <a:off x="3831336" y="3291840"/>
            <a:ext cx="1389888" cy="685800"/>
          </a:xfrm>
          <a:prstGeom prst="rect">
            <a:avLst/>
          </a:prstGeom>
          <a:noFill/>
          <a:ln/>
        </p:spPr>
        <p:txBody>
          <a:bodyPr wrap="square" lIns="0" tIns="0" rIns="0" bIns="0" rtlCol="0" anchor="ctr"/>
          <a:lstStyle/>
          <a:p>
            <a:pPr algn="ctr" indent="0" marL="0">
              <a:buNone/>
            </a:pPr>
            <a:r>
              <a:rPr lang="en-US" sz="1200" b="1" dirty="0">
                <a:solidFill>
                  <a:schemeClr val="tx2"/>
                </a:solidFill>
                <a:latin typeface="Calibri" pitchFamily="34" charset="0"/>
                <a:ea typeface="Calibri" pitchFamily="34" charset="-122"/>
                <a:cs typeface="Calibri" pitchFamily="34" charset="-120"/>
              </a:rPr>
              <a:t>Awaiting creator</a:t>
            </a:r>
            <a:endParaRPr lang="en-US" sz="1200" dirty="0"/>
          </a:p>
        </p:txBody>
      </p:sp>
      <p:sp>
        <p:nvSpPr>
          <p:cNvPr id="13" name="Shape 10"/>
          <p:cNvSpPr/>
          <p:nvPr/>
        </p:nvSpPr>
        <p:spPr>
          <a:xfrm>
            <a:off x="5266944" y="3634740"/>
            <a:ext cx="182880" cy="0"/>
          </a:xfrm>
          <a:prstGeom prst="line">
            <a:avLst/>
          </a:prstGeom>
          <a:noFill/>
          <a:ln w="19050">
            <a:solidFill>
              <a:schemeClr val="accent5"/>
            </a:solidFill>
            <a:prstDash val="solid"/>
            <a:tailEnd type="triangle"/>
          </a:ln>
        </p:spPr>
      </p:sp>
      <p:sp>
        <p:nvSpPr>
          <p:cNvPr id="14" name="Shape 11"/>
          <p:cNvSpPr/>
          <p:nvPr/>
        </p:nvSpPr>
        <p:spPr>
          <a:xfrm>
            <a:off x="5449824" y="3291840"/>
            <a:ext cx="1481328" cy="685800"/>
          </a:xfrm>
          <a:prstGeom prst="roundRect">
            <a:avLst>
              <a:gd name="adj" fmla="val 10667"/>
            </a:avLst>
          </a:prstGeom>
          <a:solidFill>
            <a:schemeClr val="accent2"/>
          </a:solidFill>
          <a:ln w="12700">
            <a:solidFill>
              <a:schemeClr val="accent2"/>
            </a:solidFill>
            <a:prstDash val="solid"/>
          </a:ln>
        </p:spPr>
      </p:sp>
      <p:sp>
        <p:nvSpPr>
          <p:cNvPr id="15" name="Text 12"/>
          <p:cNvSpPr txBox="1"/>
          <p:nvPr/>
        </p:nvSpPr>
        <p:spPr>
          <a:xfrm>
            <a:off x="5495544" y="3291840"/>
            <a:ext cx="1389888"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Creator final approval</a:t>
            </a:r>
            <a:endParaRPr lang="en-US" sz="1200" dirty="0"/>
          </a:p>
        </p:txBody>
      </p:sp>
      <p:sp>
        <p:nvSpPr>
          <p:cNvPr id="16" name="Shape 13"/>
          <p:cNvSpPr/>
          <p:nvPr/>
        </p:nvSpPr>
        <p:spPr>
          <a:xfrm>
            <a:off x="6931152" y="3634740"/>
            <a:ext cx="182880" cy="0"/>
          </a:xfrm>
          <a:prstGeom prst="line">
            <a:avLst/>
          </a:prstGeom>
          <a:noFill/>
          <a:ln w="19050">
            <a:solidFill>
              <a:schemeClr val="accent5"/>
            </a:solidFill>
            <a:prstDash val="solid"/>
            <a:tailEnd type="triangle"/>
          </a:ln>
        </p:spPr>
      </p:sp>
      <p:sp>
        <p:nvSpPr>
          <p:cNvPr id="17" name="Shape 14"/>
          <p:cNvSpPr/>
          <p:nvPr/>
        </p:nvSpPr>
        <p:spPr>
          <a:xfrm>
            <a:off x="7114032" y="3291840"/>
            <a:ext cx="1481328" cy="685800"/>
          </a:xfrm>
          <a:prstGeom prst="roundRect">
            <a:avLst>
              <a:gd name="adj" fmla="val 10667"/>
            </a:avLst>
          </a:prstGeom>
          <a:solidFill>
            <a:schemeClr val="accent6"/>
          </a:solidFill>
          <a:ln w="12700">
            <a:solidFill>
              <a:schemeClr val="accent6"/>
            </a:solidFill>
            <a:prstDash val="solid"/>
          </a:ln>
        </p:spPr>
      </p:sp>
      <p:sp>
        <p:nvSpPr>
          <p:cNvPr id="18" name="Text 15"/>
          <p:cNvSpPr txBox="1"/>
          <p:nvPr/>
        </p:nvSpPr>
        <p:spPr>
          <a:xfrm>
            <a:off x="7159752" y="3291840"/>
            <a:ext cx="1389888"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Creator publishes</a:t>
            </a:r>
            <a:endParaRPr lang="en-US" sz="1200" dirty="0"/>
          </a:p>
        </p:txBody>
      </p:sp>
      <p:sp>
        <p:nvSpPr>
          <p:cNvPr id="19" name="Text 16"/>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Roles apply per workspace. Creator-authored posts publish directly. Any edit resets approval. Enforced on the server, not just hidden in the UI.</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Security built in</a:t>
            </a:r>
            <a:endParaRPr lang="en-US" sz="3000" dirty="0"/>
          </a:p>
        </p:txBody>
      </p:sp>
      <p:sp>
        <p:nvSpPr>
          <p:cNvPr id="3" name="Shape 1"/>
          <p:cNvSpPr/>
          <p:nvPr/>
        </p:nvSpPr>
        <p:spPr>
          <a:xfrm>
            <a:off x="457200" y="1097280"/>
            <a:ext cx="2651760" cy="1325880"/>
          </a:xfrm>
          <a:prstGeom prst="roundRect">
            <a:avLst>
              <a:gd name="adj" fmla="val 5517"/>
            </a:avLst>
          </a:prstGeom>
          <a:solidFill>
            <a:schemeClr val="bg2"/>
          </a:solidFill>
          <a:ln w="12700">
            <a:solidFill>
              <a:schemeClr val="bg2"/>
            </a:solidFill>
            <a:prstDash val="solid"/>
          </a:ln>
        </p:spPr>
        <p:txBody>
          <a:bodyPr/>
          <a:p/>
        </p:txBody>
      </p:sp>
      <p:sp>
        <p:nvSpPr>
          <p:cNvPr id="4" name="Shape 2"/>
          <p:cNvSpPr/>
          <p:nvPr/>
        </p:nvSpPr>
        <p:spPr>
          <a:xfrm>
            <a:off x="594360" y="1234440"/>
            <a:ext cx="457200" cy="457200"/>
          </a:xfrm>
          <a:prstGeom prst="ellipse">
            <a:avLst/>
          </a:prstGeom>
          <a:solidFill>
            <a:schemeClr val="accent4"/>
          </a:solidFill>
          <a:ln w="12700">
            <a:solidFill>
              <a:schemeClr val="accent4"/>
            </a:solidFill>
            <a:prstDash val="solid"/>
          </a:ln>
        </p:spPr>
        <p:txBody>
          <a:bodyPr/>
          <a:p/>
        </p:txBody>
      </p:sp>
      <p:pic>
        <p:nvPicPr>
          <p:cNvPr id="5" name="Image 0" descr="preencoded.png">    </p:cNvPr>
          <p:cNvPicPr>
            <a:picLocks noChangeAspect="1"/>
          </p:cNvPicPr>
          <p:nvPr/>
        </p:nvPicPr>
        <p:blipFill>
          <a:blip r:embed="rId1"/>
          <a:stretch>
            <a:fillRect/>
          </a:stretch>
        </p:blipFill>
        <p:spPr>
          <a:xfrm>
            <a:off x="717804" y="1357884"/>
            <a:ext cx="210312" cy="210312"/>
          </a:xfrm>
          <a:prstGeom prst="rect">
            <a:avLst/>
          </a:prstGeom>
        </p:spPr>
      </p:pic>
      <p:sp>
        <p:nvSpPr>
          <p:cNvPr id="6" name="Text 3"/>
          <p:cNvSpPr txBox="1"/>
          <p:nvPr/>
        </p:nvSpPr>
        <p:spPr>
          <a:xfrm>
            <a:off x="1170432" y="1234440"/>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OAuth hardening</a:t>
            </a:r>
            <a:endParaRPr lang="en-US" sz="1400" dirty="0"/>
          </a:p>
        </p:txBody>
      </p:sp>
      <p:sp>
        <p:nvSpPr>
          <p:cNvPr id="7" name="Text 4"/>
          <p:cNvSpPr txBox="1"/>
          <p:nvPr/>
        </p:nvSpPr>
        <p:spPr>
          <a:xfrm>
            <a:off x="594360" y="1810512"/>
            <a:ext cx="23774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Hashed state, browser cookie binding and PKCE</a:t>
            </a:r>
            <a:endParaRPr lang="en-US" sz="1200" dirty="0"/>
          </a:p>
        </p:txBody>
      </p:sp>
      <p:sp>
        <p:nvSpPr>
          <p:cNvPr id="8" name="Shape 5"/>
          <p:cNvSpPr/>
          <p:nvPr/>
        </p:nvSpPr>
        <p:spPr>
          <a:xfrm>
            <a:off x="3246120" y="1097280"/>
            <a:ext cx="2651760" cy="1325880"/>
          </a:xfrm>
          <a:prstGeom prst="roundRect">
            <a:avLst>
              <a:gd name="adj" fmla="val 5517"/>
            </a:avLst>
          </a:prstGeom>
          <a:solidFill>
            <a:schemeClr val="bg2"/>
          </a:solidFill>
          <a:ln w="12700">
            <a:solidFill>
              <a:schemeClr val="bg2"/>
            </a:solidFill>
            <a:prstDash val="solid"/>
          </a:ln>
        </p:spPr>
        <p:txBody>
          <a:bodyPr/>
          <a:p/>
        </p:txBody>
      </p:sp>
      <p:sp>
        <p:nvSpPr>
          <p:cNvPr id="9" name="Shape 6"/>
          <p:cNvSpPr/>
          <p:nvPr/>
        </p:nvSpPr>
        <p:spPr>
          <a:xfrm>
            <a:off x="3383280" y="1234440"/>
            <a:ext cx="457200" cy="457200"/>
          </a:xfrm>
          <a:prstGeom prst="ellipse">
            <a:avLst/>
          </a:prstGeom>
          <a:solidFill>
            <a:schemeClr val="accent2"/>
          </a:solidFill>
          <a:ln w="12700">
            <a:solidFill>
              <a:schemeClr val="accent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3506724" y="1357884"/>
            <a:ext cx="210312" cy="210312"/>
          </a:xfrm>
          <a:prstGeom prst="rect">
            <a:avLst/>
          </a:prstGeom>
        </p:spPr>
      </p:pic>
      <p:sp>
        <p:nvSpPr>
          <p:cNvPr id="11" name="Text 7"/>
          <p:cNvSpPr txBox="1"/>
          <p:nvPr/>
        </p:nvSpPr>
        <p:spPr>
          <a:xfrm>
            <a:off x="3959352" y="1234440"/>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Encrypted tokens</a:t>
            </a:r>
            <a:endParaRPr lang="en-US" sz="1400" dirty="0"/>
          </a:p>
        </p:txBody>
      </p:sp>
      <p:sp>
        <p:nvSpPr>
          <p:cNvPr id="12" name="Text 8"/>
          <p:cNvSpPr txBox="1"/>
          <p:nvPr/>
        </p:nvSpPr>
        <p:spPr>
          <a:xfrm>
            <a:off x="3383280" y="1810512"/>
            <a:ext cx="23774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Provider tokens stored encrypted (Fernet)</a:t>
            </a:r>
            <a:endParaRPr lang="en-US" sz="1200" dirty="0"/>
          </a:p>
        </p:txBody>
      </p:sp>
      <p:sp>
        <p:nvSpPr>
          <p:cNvPr id="13" name="Shape 9"/>
          <p:cNvSpPr/>
          <p:nvPr/>
        </p:nvSpPr>
        <p:spPr>
          <a:xfrm>
            <a:off x="6035040" y="1097280"/>
            <a:ext cx="2651760" cy="1325880"/>
          </a:xfrm>
          <a:prstGeom prst="roundRect">
            <a:avLst>
              <a:gd name="adj" fmla="val 5517"/>
            </a:avLst>
          </a:prstGeom>
          <a:solidFill>
            <a:schemeClr val="bg2"/>
          </a:solidFill>
          <a:ln w="12700">
            <a:solidFill>
              <a:schemeClr val="bg2"/>
            </a:solidFill>
            <a:prstDash val="solid"/>
          </a:ln>
        </p:spPr>
        <p:txBody>
          <a:bodyPr/>
          <a:p/>
        </p:txBody>
      </p:sp>
      <p:sp>
        <p:nvSpPr>
          <p:cNvPr id="14" name="Shape 10"/>
          <p:cNvSpPr/>
          <p:nvPr/>
        </p:nvSpPr>
        <p:spPr>
          <a:xfrm>
            <a:off x="6172200" y="1234440"/>
            <a:ext cx="457200" cy="457200"/>
          </a:xfrm>
          <a:prstGeom prst="ellipse">
            <a:avLst/>
          </a:prstGeom>
          <a:solidFill>
            <a:schemeClr val="accent1"/>
          </a:solidFill>
          <a:ln w="12700">
            <a:solidFill>
              <a:schemeClr val="accent1"/>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295644" y="1357884"/>
            <a:ext cx="210312" cy="210312"/>
          </a:xfrm>
          <a:prstGeom prst="rect">
            <a:avLst/>
          </a:prstGeom>
        </p:spPr>
      </p:pic>
      <p:sp>
        <p:nvSpPr>
          <p:cNvPr id="16" name="Text 11"/>
          <p:cNvSpPr txBox="1"/>
          <p:nvPr/>
        </p:nvSpPr>
        <p:spPr>
          <a:xfrm>
            <a:off x="6748272" y="1234440"/>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Server-side access</a:t>
            </a:r>
            <a:endParaRPr lang="en-US" sz="1400" dirty="0"/>
          </a:p>
        </p:txBody>
      </p:sp>
      <p:sp>
        <p:nvSpPr>
          <p:cNvPr id="17" name="Text 12"/>
          <p:cNvSpPr txBox="1"/>
          <p:nvPr/>
        </p:nvSpPr>
        <p:spPr>
          <a:xfrm>
            <a:off x="6172200" y="1810512"/>
            <a:ext cx="23774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query scoped to the member's workspace</a:t>
            </a:r>
            <a:endParaRPr lang="en-US" sz="1200" dirty="0"/>
          </a:p>
        </p:txBody>
      </p:sp>
      <p:sp>
        <p:nvSpPr>
          <p:cNvPr id="18" name="Shape 13"/>
          <p:cNvSpPr/>
          <p:nvPr/>
        </p:nvSpPr>
        <p:spPr>
          <a:xfrm>
            <a:off x="457200" y="2560320"/>
            <a:ext cx="2651760" cy="1325880"/>
          </a:xfrm>
          <a:prstGeom prst="roundRect">
            <a:avLst>
              <a:gd name="adj" fmla="val 5517"/>
            </a:avLst>
          </a:prstGeom>
          <a:solidFill>
            <a:schemeClr val="bg2"/>
          </a:solidFill>
          <a:ln w="12700">
            <a:solidFill>
              <a:schemeClr val="bg2"/>
            </a:solidFill>
            <a:prstDash val="solid"/>
          </a:ln>
        </p:spPr>
        <p:txBody>
          <a:bodyPr/>
          <a:p/>
        </p:txBody>
      </p:sp>
      <p:sp>
        <p:nvSpPr>
          <p:cNvPr id="19" name="Shape 14"/>
          <p:cNvSpPr/>
          <p:nvPr/>
        </p:nvSpPr>
        <p:spPr>
          <a:xfrm>
            <a:off x="594360" y="2697480"/>
            <a:ext cx="457200" cy="457200"/>
          </a:xfrm>
          <a:prstGeom prst="ellipse">
            <a:avLst/>
          </a:prstGeom>
          <a:solidFill>
            <a:schemeClr val="accent3"/>
          </a:solidFill>
          <a:ln w="12700">
            <a:solidFill>
              <a:schemeClr val="accent3"/>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717804" y="2820924"/>
            <a:ext cx="210312" cy="210312"/>
          </a:xfrm>
          <a:prstGeom prst="rect">
            <a:avLst/>
          </a:prstGeom>
        </p:spPr>
      </p:pic>
      <p:sp>
        <p:nvSpPr>
          <p:cNvPr id="21" name="Text 15"/>
          <p:cNvSpPr txBox="1"/>
          <p:nvPr/>
        </p:nvSpPr>
        <p:spPr>
          <a:xfrm>
            <a:off x="1170432" y="2697480"/>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Media URL guard</a:t>
            </a:r>
            <a:endParaRPr lang="en-US" sz="1400" dirty="0"/>
          </a:p>
        </p:txBody>
      </p:sp>
      <p:sp>
        <p:nvSpPr>
          <p:cNvPr id="22" name="Text 16"/>
          <p:cNvSpPr txBox="1"/>
          <p:nvPr/>
        </p:nvSpPr>
        <p:spPr>
          <a:xfrm>
            <a:off x="594360" y="3273552"/>
            <a:ext cx="23774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Blocks private-network addresses (SSRF)</a:t>
            </a:r>
            <a:endParaRPr lang="en-US" sz="1200" dirty="0"/>
          </a:p>
        </p:txBody>
      </p:sp>
      <p:sp>
        <p:nvSpPr>
          <p:cNvPr id="23" name="Shape 17"/>
          <p:cNvSpPr/>
          <p:nvPr/>
        </p:nvSpPr>
        <p:spPr>
          <a:xfrm>
            <a:off x="3246120" y="2560320"/>
            <a:ext cx="2651760" cy="1325880"/>
          </a:xfrm>
          <a:prstGeom prst="roundRect">
            <a:avLst>
              <a:gd name="adj" fmla="val 5517"/>
            </a:avLst>
          </a:prstGeom>
          <a:solidFill>
            <a:schemeClr val="bg2"/>
          </a:solidFill>
          <a:ln w="12700">
            <a:solidFill>
              <a:schemeClr val="bg2"/>
            </a:solidFill>
            <a:prstDash val="solid"/>
          </a:ln>
        </p:spPr>
        <p:txBody>
          <a:bodyPr/>
          <a:p/>
        </p:txBody>
      </p:sp>
      <p:sp>
        <p:nvSpPr>
          <p:cNvPr id="24" name="Shape 18"/>
          <p:cNvSpPr/>
          <p:nvPr/>
        </p:nvSpPr>
        <p:spPr>
          <a:xfrm>
            <a:off x="3383280" y="2697480"/>
            <a:ext cx="457200" cy="457200"/>
          </a:xfrm>
          <a:prstGeom prst="ellipse">
            <a:avLst/>
          </a:prstGeom>
          <a:solidFill>
            <a:schemeClr val="accent6"/>
          </a:solidFill>
          <a:ln w="12700">
            <a:solidFill>
              <a:schemeClr val="accent6"/>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3506724" y="2820924"/>
            <a:ext cx="210312" cy="210312"/>
          </a:xfrm>
          <a:prstGeom prst="rect">
            <a:avLst/>
          </a:prstGeom>
        </p:spPr>
      </p:pic>
      <p:sp>
        <p:nvSpPr>
          <p:cNvPr id="26" name="Text 19"/>
          <p:cNvSpPr txBox="1"/>
          <p:nvPr/>
        </p:nvSpPr>
        <p:spPr>
          <a:xfrm>
            <a:off x="3959352" y="2697480"/>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Login limits</a:t>
            </a:r>
            <a:endParaRPr lang="en-US" sz="1400" dirty="0"/>
          </a:p>
        </p:txBody>
      </p:sp>
      <p:sp>
        <p:nvSpPr>
          <p:cNvPr id="27" name="Text 20"/>
          <p:cNvSpPr txBox="1"/>
          <p:nvPr/>
        </p:nvSpPr>
        <p:spPr>
          <a:xfrm>
            <a:off x="3383280" y="3273552"/>
            <a:ext cx="23774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10 tries per email, 30 per IP, per 15 min</a:t>
            </a:r>
            <a:endParaRPr lang="en-US" sz="1200" dirty="0"/>
          </a:p>
        </p:txBody>
      </p:sp>
      <p:sp>
        <p:nvSpPr>
          <p:cNvPr id="28" name="Shape 21"/>
          <p:cNvSpPr/>
          <p:nvPr/>
        </p:nvSpPr>
        <p:spPr>
          <a:xfrm>
            <a:off x="6035040" y="2560320"/>
            <a:ext cx="2651760" cy="1325880"/>
          </a:xfrm>
          <a:prstGeom prst="roundRect">
            <a:avLst>
              <a:gd name="adj" fmla="val 5517"/>
            </a:avLst>
          </a:prstGeom>
          <a:solidFill>
            <a:schemeClr val="bg2"/>
          </a:solidFill>
          <a:ln w="12700">
            <a:solidFill>
              <a:schemeClr val="bg2"/>
            </a:solidFill>
            <a:prstDash val="solid"/>
          </a:ln>
        </p:spPr>
        <p:txBody>
          <a:bodyPr/>
          <a:p/>
        </p:txBody>
      </p:sp>
      <p:sp>
        <p:nvSpPr>
          <p:cNvPr id="29" name="Shape 22"/>
          <p:cNvSpPr/>
          <p:nvPr/>
        </p:nvSpPr>
        <p:spPr>
          <a:xfrm>
            <a:off x="6172200" y="2697480"/>
            <a:ext cx="457200" cy="457200"/>
          </a:xfrm>
          <a:prstGeom prst="ellipse">
            <a:avLst/>
          </a:prstGeom>
          <a:solidFill>
            <a:schemeClr val="tx2"/>
          </a:solidFill>
          <a:ln w="12700">
            <a:solidFill>
              <a:schemeClr val="tx2"/>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6295644" y="2820924"/>
            <a:ext cx="210312" cy="210312"/>
          </a:xfrm>
          <a:prstGeom prst="rect">
            <a:avLst/>
          </a:prstGeom>
        </p:spPr>
      </p:pic>
      <p:sp>
        <p:nvSpPr>
          <p:cNvPr id="31" name="Text 23"/>
          <p:cNvSpPr txBox="1"/>
          <p:nvPr/>
        </p:nvSpPr>
        <p:spPr>
          <a:xfrm>
            <a:off x="6748272" y="2697480"/>
            <a:ext cx="1828800" cy="45720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Safe configuration</a:t>
            </a:r>
            <a:endParaRPr lang="en-US" sz="1400" dirty="0"/>
          </a:p>
        </p:txBody>
      </p:sp>
      <p:sp>
        <p:nvSpPr>
          <p:cNvPr id="32" name="Text 24"/>
          <p:cNvSpPr txBox="1"/>
          <p:nvPr/>
        </p:nvSpPr>
        <p:spPr>
          <a:xfrm>
            <a:off x="6172200" y="3273552"/>
            <a:ext cx="2377440"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Secrets from environment only; strict production checks</a:t>
            </a:r>
            <a:endParaRPr lang="en-US" sz="1200" dirty="0"/>
          </a:p>
        </p:txBody>
      </p:sp>
      <p:sp>
        <p:nvSpPr>
          <p:cNvPr id="33" name="Text 25"/>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Added since the audit: 8-character passwords, sign-up limit, proxy-aware IP limits, CSP and HSTS. Still open: email check at sign-up, token storage.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Problems we hit and how we solved them</a:t>
            </a:r>
            <a:endParaRPr lang="en-US" sz="3000" dirty="0"/>
          </a:p>
        </p:txBody>
      </p:sp>
      <p:sp>
        <p:nvSpPr>
          <p:cNvPr id="3" name="Shape 1"/>
          <p:cNvSpPr/>
          <p:nvPr/>
        </p:nvSpPr>
        <p:spPr>
          <a:xfrm>
            <a:off x="457200" y="1097280"/>
            <a:ext cx="2651760" cy="1645920"/>
          </a:xfrm>
          <a:prstGeom prst="roundRect">
            <a:avLst>
              <a:gd name="adj" fmla="val 4444"/>
            </a:avLst>
          </a:prstGeom>
          <a:solidFill>
            <a:schemeClr val="bg2"/>
          </a:solidFill>
          <a:ln w="12700">
            <a:solidFill>
              <a:schemeClr val="bg2"/>
            </a:solidFill>
            <a:prstDash val="solid"/>
          </a:ln>
        </p:spPr>
      </p:sp>
      <p:sp>
        <p:nvSpPr>
          <p:cNvPr id="4" name="Text 2"/>
          <p:cNvSpPr txBox="1"/>
          <p:nvPr/>
        </p:nvSpPr>
        <p:spPr>
          <a:xfrm>
            <a:off x="594360" y="1170432"/>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Login callbacks on a laptop</a:t>
            </a:r>
            <a:endParaRPr lang="en-US" sz="1400" dirty="0"/>
          </a:p>
        </p:txBody>
      </p:sp>
      <p:sp>
        <p:nvSpPr>
          <p:cNvPr id="5" name="Text 3"/>
          <p:cNvSpPr txBox="1"/>
          <p:nvPr/>
        </p:nvSpPr>
        <p:spPr>
          <a:xfrm>
            <a:off x="594360" y="1481328"/>
            <a:ext cx="2395728"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Platforms need a public HTTPS address to return to.</a:t>
            </a:r>
            <a:endParaRPr lang="en-US" sz="1100" dirty="0"/>
          </a:p>
        </p:txBody>
      </p:sp>
      <p:sp>
        <p:nvSpPr>
          <p:cNvPr id="6" name="Text 4"/>
          <p:cNvSpPr txBox="1"/>
          <p:nvPr/>
        </p:nvSpPr>
        <p:spPr>
          <a:xfrm>
            <a:off x="594360" y="1965960"/>
            <a:ext cx="2395728"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 secure tunnel plus helper scripts that update the callback URLs.</a:t>
            </a:r>
            <a:endParaRPr lang="en-US" sz="1200" dirty="0"/>
          </a:p>
        </p:txBody>
      </p:sp>
      <p:sp>
        <p:nvSpPr>
          <p:cNvPr id="7" name="Shape 5"/>
          <p:cNvSpPr/>
          <p:nvPr/>
        </p:nvSpPr>
        <p:spPr>
          <a:xfrm>
            <a:off x="3246120" y="1097280"/>
            <a:ext cx="2651760" cy="1645920"/>
          </a:xfrm>
          <a:prstGeom prst="roundRect">
            <a:avLst>
              <a:gd name="adj" fmla="val 4444"/>
            </a:avLst>
          </a:prstGeom>
          <a:solidFill>
            <a:schemeClr val="bg2"/>
          </a:solidFill>
          <a:ln w="12700">
            <a:solidFill>
              <a:schemeClr val="bg2"/>
            </a:solidFill>
            <a:prstDash val="solid"/>
          </a:ln>
        </p:spPr>
      </p:sp>
      <p:sp>
        <p:nvSpPr>
          <p:cNvPr id="8" name="Text 6"/>
          <p:cNvSpPr txBox="1"/>
          <p:nvPr/>
        </p:nvSpPr>
        <p:spPr>
          <a:xfrm>
            <a:off x="3383280" y="1170432"/>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Lost or double posts</a:t>
            </a:r>
            <a:endParaRPr lang="en-US" sz="1400" dirty="0"/>
          </a:p>
        </p:txBody>
      </p:sp>
      <p:sp>
        <p:nvSpPr>
          <p:cNvPr id="9" name="Text 7"/>
          <p:cNvSpPr txBox="1"/>
          <p:nvPr/>
        </p:nvSpPr>
        <p:spPr>
          <a:xfrm>
            <a:off x="3383280" y="1481328"/>
            <a:ext cx="2395728"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A restart mid-publish could drop or repeat a post.</a:t>
            </a:r>
            <a:endParaRPr lang="en-US" sz="1100" dirty="0"/>
          </a:p>
        </p:txBody>
      </p:sp>
      <p:sp>
        <p:nvSpPr>
          <p:cNvPr id="10" name="Text 8"/>
          <p:cNvSpPr txBox="1"/>
          <p:nvPr/>
        </p:nvSpPr>
        <p:spPr>
          <a:xfrm>
            <a:off x="3383280" y="1965960"/>
            <a:ext cx="2395728"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Durable database jobs, locking, retries and safe handling of unknown outcomes.</a:t>
            </a:r>
            <a:endParaRPr lang="en-US" sz="1200" dirty="0"/>
          </a:p>
        </p:txBody>
      </p:sp>
      <p:sp>
        <p:nvSpPr>
          <p:cNvPr id="11" name="Shape 9"/>
          <p:cNvSpPr/>
          <p:nvPr/>
        </p:nvSpPr>
        <p:spPr>
          <a:xfrm>
            <a:off x="6035040" y="1097280"/>
            <a:ext cx="2651760" cy="1645920"/>
          </a:xfrm>
          <a:prstGeom prst="roundRect">
            <a:avLst>
              <a:gd name="adj" fmla="val 4444"/>
            </a:avLst>
          </a:prstGeom>
          <a:solidFill>
            <a:schemeClr val="bg2"/>
          </a:solidFill>
          <a:ln w="12700">
            <a:solidFill>
              <a:schemeClr val="bg2"/>
            </a:solidFill>
            <a:prstDash val="solid"/>
          </a:ln>
        </p:spPr>
      </p:sp>
      <p:sp>
        <p:nvSpPr>
          <p:cNvPr id="12" name="Text 10"/>
          <p:cNvSpPr txBox="1"/>
          <p:nvPr/>
        </p:nvSpPr>
        <p:spPr>
          <a:xfrm>
            <a:off x="6172200" y="1170432"/>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Who may publish?</a:t>
            </a:r>
            <a:endParaRPr lang="en-US" sz="1400" dirty="0"/>
          </a:p>
        </p:txBody>
      </p:sp>
      <p:sp>
        <p:nvSpPr>
          <p:cNvPr id="13" name="Text 11"/>
          <p:cNvSpPr txBox="1"/>
          <p:nvPr/>
        </p:nvSpPr>
        <p:spPr>
          <a:xfrm>
            <a:off x="6172200" y="1481328"/>
            <a:ext cx="2395728"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Managers and admins could reach publishing actions.</a:t>
            </a:r>
            <a:endParaRPr lang="en-US" sz="1100" dirty="0"/>
          </a:p>
        </p:txBody>
      </p:sp>
      <p:sp>
        <p:nvSpPr>
          <p:cNvPr id="14" name="Text 12"/>
          <p:cNvSpPr txBox="1"/>
          <p:nvPr/>
        </p:nvSpPr>
        <p:spPr>
          <a:xfrm>
            <a:off x="6172200" y="1965960"/>
            <a:ext cx="2395728"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One rule, creator only, checked on the server again at send time.</a:t>
            </a:r>
            <a:endParaRPr lang="en-US" sz="1200" dirty="0"/>
          </a:p>
        </p:txBody>
      </p:sp>
      <p:sp>
        <p:nvSpPr>
          <p:cNvPr id="15" name="Shape 13"/>
          <p:cNvSpPr/>
          <p:nvPr/>
        </p:nvSpPr>
        <p:spPr>
          <a:xfrm>
            <a:off x="457200" y="2880360"/>
            <a:ext cx="2651760" cy="1645920"/>
          </a:xfrm>
          <a:prstGeom prst="roundRect">
            <a:avLst>
              <a:gd name="adj" fmla="val 4444"/>
            </a:avLst>
          </a:prstGeom>
          <a:solidFill>
            <a:schemeClr val="bg2"/>
          </a:solidFill>
          <a:ln w="12700">
            <a:solidFill>
              <a:schemeClr val="bg2"/>
            </a:solidFill>
            <a:prstDash val="solid"/>
          </a:ln>
        </p:spPr>
      </p:sp>
      <p:sp>
        <p:nvSpPr>
          <p:cNvPr id="16" name="Text 14"/>
          <p:cNvSpPr txBox="1"/>
          <p:nvPr/>
        </p:nvSpPr>
        <p:spPr>
          <a:xfrm>
            <a:off x="594360" y="2953512"/>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Secrets in the wrong place</a:t>
            </a:r>
            <a:endParaRPr lang="en-US" sz="1400" dirty="0"/>
          </a:p>
        </p:txBody>
      </p:sp>
      <p:sp>
        <p:nvSpPr>
          <p:cNvPr id="17" name="Text 15"/>
          <p:cNvSpPr txBox="1"/>
          <p:nvPr/>
        </p:nvSpPr>
        <p:spPr>
          <a:xfrm>
            <a:off x="594360" y="3264408"/>
            <a:ext cx="2395728"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Keys and env files risk ending up in Git.</a:t>
            </a:r>
            <a:endParaRPr lang="en-US" sz="1100" dirty="0"/>
          </a:p>
        </p:txBody>
      </p:sp>
      <p:sp>
        <p:nvSpPr>
          <p:cNvPr id="18" name="Text 16"/>
          <p:cNvSpPr txBox="1"/>
          <p:nvPr/>
        </p:nvSpPr>
        <p:spPr>
          <a:xfrm>
            <a:off x="594360" y="3749040"/>
            <a:ext cx="2395728"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Environment-only config, encrypted tokens, secret-free GitHub copy.</a:t>
            </a:r>
            <a:endParaRPr lang="en-US" sz="1200" dirty="0"/>
          </a:p>
        </p:txBody>
      </p:sp>
      <p:sp>
        <p:nvSpPr>
          <p:cNvPr id="19" name="Shape 17"/>
          <p:cNvSpPr/>
          <p:nvPr/>
        </p:nvSpPr>
        <p:spPr>
          <a:xfrm>
            <a:off x="3246120" y="2880360"/>
            <a:ext cx="2651760" cy="1645920"/>
          </a:xfrm>
          <a:prstGeom prst="roundRect">
            <a:avLst>
              <a:gd name="adj" fmla="val 4444"/>
            </a:avLst>
          </a:prstGeom>
          <a:solidFill>
            <a:schemeClr val="bg2"/>
          </a:solidFill>
          <a:ln w="12700">
            <a:solidFill>
              <a:schemeClr val="bg2"/>
            </a:solidFill>
            <a:prstDash val="solid"/>
          </a:ln>
        </p:spPr>
      </p:sp>
      <p:sp>
        <p:nvSpPr>
          <p:cNvPr id="20" name="Text 18"/>
          <p:cNvSpPr txBox="1"/>
          <p:nvPr/>
        </p:nvSpPr>
        <p:spPr>
          <a:xfrm>
            <a:off x="3383280" y="2953512"/>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Slow first load</a:t>
            </a:r>
            <a:endParaRPr lang="en-US" sz="1400" dirty="0"/>
          </a:p>
        </p:txBody>
      </p:sp>
      <p:sp>
        <p:nvSpPr>
          <p:cNvPr id="21" name="Text 19"/>
          <p:cNvSpPr txBox="1"/>
          <p:nvPr/>
        </p:nvSpPr>
        <p:spPr>
          <a:xfrm>
            <a:off x="3383280" y="3264408"/>
            <a:ext cx="2395728"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The first version shipped 776 kB of JavaScript.</a:t>
            </a:r>
            <a:endParaRPr lang="en-US" sz="1100" dirty="0"/>
          </a:p>
        </p:txBody>
      </p:sp>
      <p:sp>
        <p:nvSpPr>
          <p:cNvPr id="22" name="Text 20"/>
          <p:cNvSpPr txBox="1"/>
          <p:nvPr/>
        </p:nvSpPr>
        <p:spPr>
          <a:xfrm>
            <a:off x="3383280" y="3749040"/>
            <a:ext cx="2395728"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Lazy-loaded pages and charts: about 66% less to start.</a:t>
            </a:r>
            <a:endParaRPr lang="en-US" sz="1200" dirty="0"/>
          </a:p>
        </p:txBody>
      </p:sp>
      <p:sp>
        <p:nvSpPr>
          <p:cNvPr id="23" name="Shape 21"/>
          <p:cNvSpPr/>
          <p:nvPr/>
        </p:nvSpPr>
        <p:spPr>
          <a:xfrm>
            <a:off x="6035040" y="2880360"/>
            <a:ext cx="2651760" cy="1645920"/>
          </a:xfrm>
          <a:prstGeom prst="roundRect">
            <a:avLst>
              <a:gd name="adj" fmla="val 4444"/>
            </a:avLst>
          </a:prstGeom>
          <a:solidFill>
            <a:schemeClr val="bg2"/>
          </a:solidFill>
          <a:ln w="12700">
            <a:solidFill>
              <a:schemeClr val="bg2"/>
            </a:solidFill>
            <a:prstDash val="solid"/>
          </a:ln>
        </p:spPr>
      </p:sp>
      <p:sp>
        <p:nvSpPr>
          <p:cNvPr id="24" name="Text 22"/>
          <p:cNvSpPr txBox="1"/>
          <p:nvPr/>
        </p:nvSpPr>
        <p:spPr>
          <a:xfrm>
            <a:off x="6172200" y="2953512"/>
            <a:ext cx="237744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Platform limits</a:t>
            </a:r>
            <a:endParaRPr lang="en-US" sz="1400" dirty="0"/>
          </a:p>
        </p:txBody>
      </p:sp>
      <p:sp>
        <p:nvSpPr>
          <p:cNvPr id="25" name="Text 23"/>
          <p:cNvSpPr txBox="1"/>
          <p:nvPr/>
        </p:nvSpPr>
        <p:spPr>
          <a:xfrm>
            <a:off x="6172200" y="3264408"/>
            <a:ext cx="2395728"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Meta test mode, X billing, LinkedIn Page rule, PDF fonts.</a:t>
            </a:r>
            <a:endParaRPr lang="en-US" sz="1100" dirty="0"/>
          </a:p>
        </p:txBody>
      </p:sp>
      <p:sp>
        <p:nvSpPr>
          <p:cNvPr id="26" name="Text 24"/>
          <p:cNvSpPr txBox="1"/>
          <p:nvPr/>
        </p:nvSpPr>
        <p:spPr>
          <a:xfrm>
            <a:off x="6172200" y="3749040"/>
            <a:ext cx="2395728"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Stated openly; Excel export covers all languages.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Testing and performance</a:t>
            </a:r>
            <a:endParaRPr lang="en-US" sz="3000" dirty="0"/>
          </a:p>
        </p:txBody>
      </p:sp>
      <p:sp>
        <p:nvSpPr>
          <p:cNvPr id="3" name="Shape 1"/>
          <p:cNvSpPr/>
          <p:nvPr/>
        </p:nvSpPr>
        <p:spPr>
          <a:xfrm>
            <a:off x="457200" y="1097280"/>
            <a:ext cx="1783080" cy="1463040"/>
          </a:xfrm>
          <a:prstGeom prst="roundRect">
            <a:avLst>
              <a:gd name="adj" fmla="val 5000"/>
            </a:avLst>
          </a:prstGeom>
          <a:solidFill>
            <a:schemeClr val="bg2"/>
          </a:solidFill>
          <a:ln w="12700">
            <a:solidFill>
              <a:schemeClr val="bg2"/>
            </a:solidFill>
            <a:prstDash val="solid"/>
          </a:ln>
        </p:spPr>
        <p:txBody>
          <a:bodyPr/>
          <a:p/>
        </p:txBody>
      </p:sp>
      <p:sp>
        <p:nvSpPr>
          <p:cNvPr id="4" name="Text 2"/>
          <p:cNvSpPr txBox="1"/>
          <p:nvPr/>
        </p:nvSpPr>
        <p:spPr>
          <a:xfrm>
            <a:off x="457200" y="1207008"/>
            <a:ext cx="1783080" cy="68580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139</a:t>
            </a:r>
            <a:endParaRPr lang="en-US" sz="4000" dirty="0"/>
          </a:p>
        </p:txBody>
      </p:sp>
      <p:sp>
        <p:nvSpPr>
          <p:cNvPr id="5" name="Text 3"/>
          <p:cNvSpPr txBox="1"/>
          <p:nvPr/>
        </p:nvSpPr>
        <p:spPr>
          <a:xfrm>
            <a:off x="457200" y="1920240"/>
            <a:ext cx="178308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backend tests</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(PostgreSQL, Docker)</a:t>
            </a:r>
            <a:endParaRPr lang="en-US" sz="1200" dirty="0"/>
          </a:p>
        </p:txBody>
      </p:sp>
      <p:sp>
        <p:nvSpPr>
          <p:cNvPr id="6" name="Shape 4"/>
          <p:cNvSpPr/>
          <p:nvPr/>
        </p:nvSpPr>
        <p:spPr>
          <a:xfrm>
            <a:off x="2331720" y="1097280"/>
            <a:ext cx="1783080" cy="1463040"/>
          </a:xfrm>
          <a:prstGeom prst="roundRect">
            <a:avLst>
              <a:gd name="adj" fmla="val 5000"/>
            </a:avLst>
          </a:prstGeom>
          <a:solidFill>
            <a:schemeClr val="bg2"/>
          </a:solidFill>
          <a:ln w="12700">
            <a:solidFill>
              <a:schemeClr val="bg2"/>
            </a:solidFill>
            <a:prstDash val="solid"/>
          </a:ln>
        </p:spPr>
        <p:txBody>
          <a:bodyPr/>
          <a:p/>
        </p:txBody>
      </p:sp>
      <p:sp>
        <p:nvSpPr>
          <p:cNvPr id="7" name="Text 5"/>
          <p:cNvSpPr txBox="1"/>
          <p:nvPr/>
        </p:nvSpPr>
        <p:spPr>
          <a:xfrm>
            <a:off x="2331720" y="1207008"/>
            <a:ext cx="1783080" cy="68580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22</a:t>
            </a:r>
            <a:endParaRPr lang="en-US" sz="4000" dirty="0"/>
          </a:p>
        </p:txBody>
      </p:sp>
      <p:sp>
        <p:nvSpPr>
          <p:cNvPr id="8" name="Text 6"/>
          <p:cNvSpPr txBox="1"/>
          <p:nvPr/>
        </p:nvSpPr>
        <p:spPr>
          <a:xfrm>
            <a:off x="2331720" y="1920240"/>
            <a:ext cx="178308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frontend tests</a:t>
            </a:r>
            <a:endParaRPr lang="en-US" sz="1200" dirty="0"/>
          </a:p>
        </p:txBody>
      </p:sp>
      <p:sp>
        <p:nvSpPr>
          <p:cNvPr id="9" name="Shape 7"/>
          <p:cNvSpPr/>
          <p:nvPr/>
        </p:nvSpPr>
        <p:spPr>
          <a:xfrm>
            <a:off x="457200" y="2697480"/>
            <a:ext cx="1783080" cy="1463040"/>
          </a:xfrm>
          <a:prstGeom prst="roundRect">
            <a:avLst>
              <a:gd name="adj" fmla="val 5000"/>
            </a:avLst>
          </a:prstGeom>
          <a:solidFill>
            <a:schemeClr val="bg2"/>
          </a:solidFill>
          <a:ln w="12700">
            <a:solidFill>
              <a:schemeClr val="bg2"/>
            </a:solidFill>
            <a:prstDash val="solid"/>
          </a:ln>
        </p:spPr>
        <p:txBody>
          <a:bodyPr/>
          <a:p/>
        </p:txBody>
      </p:sp>
      <p:sp>
        <p:nvSpPr>
          <p:cNvPr id="10" name="Text 8"/>
          <p:cNvSpPr txBox="1"/>
          <p:nvPr/>
        </p:nvSpPr>
        <p:spPr>
          <a:xfrm>
            <a:off x="457200" y="2807208"/>
            <a:ext cx="1783080" cy="68580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18</a:t>
            </a:r>
            <a:endParaRPr lang="en-US" sz="4000" dirty="0"/>
          </a:p>
        </p:txBody>
      </p:sp>
      <p:sp>
        <p:nvSpPr>
          <p:cNvPr id="11" name="Text 9"/>
          <p:cNvSpPr txBox="1"/>
          <p:nvPr/>
        </p:nvSpPr>
        <p:spPr>
          <a:xfrm>
            <a:off x="457200" y="3520440"/>
            <a:ext cx="178308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responsive checks</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360 / 768 / 1280 px</a:t>
            </a:r>
            <a:endParaRPr lang="en-US" sz="1200" dirty="0"/>
          </a:p>
        </p:txBody>
      </p:sp>
      <p:sp>
        <p:nvSpPr>
          <p:cNvPr id="12" name="Shape 10"/>
          <p:cNvSpPr/>
          <p:nvPr/>
        </p:nvSpPr>
        <p:spPr>
          <a:xfrm>
            <a:off x="2331720" y="2697480"/>
            <a:ext cx="1783080" cy="1463040"/>
          </a:xfrm>
          <a:prstGeom prst="roundRect">
            <a:avLst>
              <a:gd name="adj" fmla="val 5000"/>
            </a:avLst>
          </a:prstGeom>
          <a:solidFill>
            <a:schemeClr val="bg2"/>
          </a:solidFill>
          <a:ln w="12700">
            <a:solidFill>
              <a:schemeClr val="bg2"/>
            </a:solidFill>
            <a:prstDash val="solid"/>
          </a:ln>
        </p:spPr>
        <p:txBody>
          <a:bodyPr/>
          <a:p/>
        </p:txBody>
      </p:sp>
      <p:sp>
        <p:nvSpPr>
          <p:cNvPr id="13" name="Text 11"/>
          <p:cNvSpPr txBox="1"/>
          <p:nvPr/>
        </p:nvSpPr>
        <p:spPr>
          <a:xfrm>
            <a:off x="2331720" y="2807208"/>
            <a:ext cx="1783080" cy="68580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14" name="Text 12"/>
          <p:cNvSpPr txBox="1"/>
          <p:nvPr/>
        </p:nvSpPr>
        <p:spPr>
          <a:xfrm>
            <a:off x="2331720" y="3520440"/>
            <a:ext cx="1783080"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Alembic head</a:t>
            </a:r>
            <a:endParaRPr lang="en-US" sz="1200" dirty="0"/>
          </a:p>
          <a:p>
            <a:pPr algn="ctr" indent="0" marL="0">
              <a:buNone/>
            </a:pPr>
            <a:r>
              <a:rPr lang="en-US" sz="1200" dirty="0">
                <a:solidFill>
                  <a:schemeClr val="tx1"/>
                </a:solidFill>
                <a:latin typeface="Calibri" pitchFamily="34" charset="0"/>
                <a:ea typeface="Calibri" pitchFamily="34" charset="-122"/>
                <a:cs typeface="Calibri" pitchFamily="34" charset="-120"/>
              </a:rPr>
              <a:t>round-trip verified</a:t>
            </a:r>
            <a:endParaRPr lang="en-US" sz="1200" dirty="0"/>
          </a:p>
        </p:txBody>
      </p:sp>
      <p:graphicFrame>
        <p:nvGraphicFramePr>
          <p:cNvPr id="15" name="Chart 0" descr=""/>
          <p:cNvGraphicFramePr/>
          <p:nvPr/>
        </p:nvGraphicFramePr>
        <p:xfrm>
          <a:off x="4434840" y="1005840"/>
          <a:ext cx="4251960" cy="301752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434840" y="4069080"/>
            <a:ext cx="42519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About 66% less JavaScript before the app starts. Charts load only when needed.</a:t>
            </a:r>
            <a:endParaRPr lang="en-US" sz="1200" dirty="0"/>
          </a:p>
        </p:txBody>
      </p:sp>
      <p:sp>
        <p:nvSpPr>
          <p:cNvPr id="17" name="Text 14"/>
          <p:cNvSpPr txBox="1"/>
          <p:nvPr/>
        </p:nvSpPr>
        <p:spPr>
          <a:xfrm>
            <a:off x="457200" y="4343400"/>
            <a:ext cx="3749040" cy="36576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Tests mock provider calls. Live posts were checked by hand.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Future scope</a:t>
            </a:r>
            <a:endParaRPr lang="en-US" sz="3000" dirty="0"/>
          </a:p>
        </p:txBody>
      </p:sp>
      <p:sp>
        <p:nvSpPr>
          <p:cNvPr id="3" name="Shape 1"/>
          <p:cNvSpPr/>
          <p:nvPr/>
        </p:nvSpPr>
        <p:spPr>
          <a:xfrm>
            <a:off x="457200" y="1097280"/>
            <a:ext cx="2651760" cy="3429000"/>
          </a:xfrm>
          <a:prstGeom prst="roundRect">
            <a:avLst>
              <a:gd name="adj" fmla="val 2759"/>
            </a:avLst>
          </a:prstGeom>
          <a:solidFill>
            <a:schemeClr val="bg2"/>
          </a:solidFill>
          <a:ln w="12700">
            <a:solidFill>
              <a:schemeClr val="bg2"/>
            </a:solidFill>
            <a:prstDash val="solid"/>
          </a:ln>
        </p:spPr>
        <p:txBody>
          <a:bodyPr/>
          <a:p/>
        </p:txBody>
      </p:sp>
      <p:sp>
        <p:nvSpPr>
          <p:cNvPr id="4" name="Shape 2"/>
          <p:cNvSpPr/>
          <p:nvPr/>
        </p:nvSpPr>
        <p:spPr>
          <a:xfrm>
            <a:off x="594360" y="1234440"/>
            <a:ext cx="1371600" cy="310896"/>
          </a:xfrm>
          <a:prstGeom prst="roundRect">
            <a:avLst>
              <a:gd name="adj" fmla="val 50000"/>
            </a:avLst>
          </a:prstGeom>
          <a:solidFill>
            <a:schemeClr val="accent2"/>
          </a:solidFill>
          <a:ln w="12700">
            <a:solidFill>
              <a:schemeClr val="accent2"/>
            </a:solidFill>
            <a:prstDash val="solid"/>
          </a:ln>
        </p:spPr>
        <p:txBody>
          <a:bodyPr/>
          <a:p/>
        </p:txBody>
      </p:sp>
      <p:sp>
        <p:nvSpPr>
          <p:cNvPr id="5" name="Text 3"/>
          <p:cNvSpPr txBox="1"/>
          <p:nvPr/>
        </p:nvSpPr>
        <p:spPr>
          <a:xfrm>
            <a:off x="594360" y="123444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Near term</a:t>
            </a:r>
            <a:endParaRPr lang="en-US" sz="1200" dirty="0"/>
          </a:p>
        </p:txBody>
      </p:sp>
      <p:sp>
        <p:nvSpPr>
          <p:cNvPr id="6" name="Text 4"/>
          <p:cNvSpPr txBox="1"/>
          <p:nvPr/>
        </p:nvSpPr>
        <p:spPr>
          <a:xfrm>
            <a:off x="594360" y="1737360"/>
            <a:ext cx="2395728" cy="2697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Live checks for LinkedIn and X</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Email verification at sign-up and an automatic worker schedule</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Load tests and monitoring</a:t>
            </a:r>
            <a:endParaRPr lang="en-US" sz="1400" dirty="0"/>
          </a:p>
        </p:txBody>
      </p:sp>
      <p:sp>
        <p:nvSpPr>
          <p:cNvPr id="7" name="Shape 5"/>
          <p:cNvSpPr/>
          <p:nvPr/>
        </p:nvSpPr>
        <p:spPr>
          <a:xfrm>
            <a:off x="3246120" y="1097280"/>
            <a:ext cx="2651760" cy="3429000"/>
          </a:xfrm>
          <a:prstGeom prst="roundRect">
            <a:avLst>
              <a:gd name="adj" fmla="val 2759"/>
            </a:avLst>
          </a:prstGeom>
          <a:solidFill>
            <a:schemeClr val="bg2"/>
          </a:solidFill>
          <a:ln w="12700">
            <a:solidFill>
              <a:schemeClr val="bg2"/>
            </a:solidFill>
            <a:prstDash val="solid"/>
          </a:ln>
        </p:spPr>
        <p:txBody>
          <a:bodyPr/>
          <a:p/>
        </p:txBody>
      </p:sp>
      <p:sp>
        <p:nvSpPr>
          <p:cNvPr id="8" name="Shape 6"/>
          <p:cNvSpPr/>
          <p:nvPr/>
        </p:nvSpPr>
        <p:spPr>
          <a:xfrm>
            <a:off x="3383280" y="1234440"/>
            <a:ext cx="1371600" cy="310896"/>
          </a:xfrm>
          <a:prstGeom prst="roundRect">
            <a:avLst>
              <a:gd name="adj" fmla="val 50000"/>
            </a:avLst>
          </a:prstGeom>
          <a:solidFill>
            <a:schemeClr val="accent4"/>
          </a:solidFill>
          <a:ln w="12700">
            <a:solidFill>
              <a:schemeClr val="accent4"/>
            </a:solidFill>
            <a:prstDash val="solid"/>
          </a:ln>
        </p:spPr>
        <p:txBody>
          <a:bodyPr/>
          <a:p/>
        </p:txBody>
      </p:sp>
      <p:sp>
        <p:nvSpPr>
          <p:cNvPr id="9" name="Text 7"/>
          <p:cNvSpPr txBox="1"/>
          <p:nvPr/>
        </p:nvSpPr>
        <p:spPr>
          <a:xfrm>
            <a:off x="3383280" y="123444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Next</a:t>
            </a:r>
            <a:endParaRPr lang="en-US" sz="1200" dirty="0"/>
          </a:p>
        </p:txBody>
      </p:sp>
      <p:sp>
        <p:nvSpPr>
          <p:cNvPr id="10" name="Text 8"/>
          <p:cNvSpPr txBox="1"/>
          <p:nvPr/>
        </p:nvSpPr>
        <p:spPr>
          <a:xfrm>
            <a:off x="3383280" y="1737360"/>
            <a:ext cx="2395728" cy="2697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Pinterest, carousels, stories and reels</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Audience demographics and geography</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Meta app review for public accounts</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Unicode-safe PDF reports</a:t>
            </a:r>
            <a:endParaRPr lang="en-US" sz="1400" dirty="0"/>
          </a:p>
        </p:txBody>
      </p:sp>
      <p:sp>
        <p:nvSpPr>
          <p:cNvPr id="11" name="Shape 9"/>
          <p:cNvSpPr/>
          <p:nvPr/>
        </p:nvSpPr>
        <p:spPr>
          <a:xfrm>
            <a:off x="6035040" y="1097280"/>
            <a:ext cx="2651760" cy="3429000"/>
          </a:xfrm>
          <a:prstGeom prst="roundRect">
            <a:avLst>
              <a:gd name="adj" fmla="val 2759"/>
            </a:avLst>
          </a:prstGeom>
          <a:solidFill>
            <a:schemeClr val="bg2"/>
          </a:solidFill>
          <a:ln w="12700">
            <a:solidFill>
              <a:schemeClr val="bg2"/>
            </a:solidFill>
            <a:prstDash val="solid"/>
          </a:ln>
        </p:spPr>
        <p:txBody>
          <a:bodyPr/>
          <a:p/>
        </p:txBody>
      </p:sp>
      <p:sp>
        <p:nvSpPr>
          <p:cNvPr id="12" name="Shape 10"/>
          <p:cNvSpPr/>
          <p:nvPr/>
        </p:nvSpPr>
        <p:spPr>
          <a:xfrm>
            <a:off x="6172200" y="1234440"/>
            <a:ext cx="1371600" cy="310896"/>
          </a:xfrm>
          <a:prstGeom prst="roundRect">
            <a:avLst>
              <a:gd name="adj" fmla="val 50000"/>
            </a:avLst>
          </a:prstGeom>
          <a:solidFill>
            <a:schemeClr val="accent1"/>
          </a:solidFill>
          <a:ln w="12700">
            <a:solidFill>
              <a:schemeClr val="accent1"/>
            </a:solidFill>
            <a:prstDash val="solid"/>
          </a:ln>
        </p:spPr>
        <p:txBody>
          <a:bodyPr/>
          <a:p/>
        </p:txBody>
      </p:sp>
      <p:sp>
        <p:nvSpPr>
          <p:cNvPr id="13" name="Text 11"/>
          <p:cNvSpPr txBox="1"/>
          <p:nvPr/>
        </p:nvSpPr>
        <p:spPr>
          <a:xfrm>
            <a:off x="6172200" y="123444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Longer term</a:t>
            </a:r>
            <a:endParaRPr lang="en-US" sz="1200" dirty="0"/>
          </a:p>
        </p:txBody>
      </p:sp>
      <p:sp>
        <p:nvSpPr>
          <p:cNvPr id="14" name="Text 12"/>
          <p:cNvSpPr txBox="1"/>
          <p:nvPr/>
        </p:nvSpPr>
        <p:spPr>
          <a:xfrm>
            <a:off x="6172200" y="1737360"/>
            <a:ext cx="2395728" cy="2697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AI help: caption ideas and best time to post</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Mobile app or installable web app</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Two-factor login and single sign-on</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More platforms, agency client workspaces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Conclusion and next steps</a:t>
            </a:r>
            <a:endParaRPr lang="en-US" sz="3400" dirty="0"/>
          </a:p>
        </p:txBody>
      </p:sp>
      <p:sp>
        <p:nvSpPr>
          <p:cNvPr id="3" name="Shape 1"/>
          <p:cNvSpPr/>
          <p:nvPr/>
        </p:nvSpPr>
        <p:spPr>
          <a:xfrm>
            <a:off x="548640" y="1371600"/>
            <a:ext cx="3931920" cy="2651760"/>
          </a:xfrm>
          <a:prstGeom prst="roundRect">
            <a:avLst>
              <a:gd name="adj" fmla="val 2759"/>
            </a:avLst>
          </a:prstGeom>
          <a:solidFill>
            <a:schemeClr val="tx1"/>
          </a:solidFill>
          <a:ln w="12700">
            <a:solidFill>
              <a:schemeClr val="tx1"/>
            </a:solidFill>
            <a:prstDash val="solid"/>
          </a:ln>
        </p:spPr>
        <p:txBody>
          <a:bodyPr/>
          <a:p/>
        </p:txBody>
      </p:sp>
      <p:sp>
        <p:nvSpPr>
          <p:cNvPr id="4" name="Text 2"/>
          <p:cNvSpPr txBox="1"/>
          <p:nvPr/>
        </p:nvSpPr>
        <p:spPr>
          <a:xfrm>
            <a:off x="777240" y="1508760"/>
            <a:ext cx="347472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Delivered</a:t>
            </a:r>
            <a:endParaRPr lang="en-US" sz="2000" dirty="0"/>
          </a:p>
        </p:txBody>
      </p:sp>
      <p:sp>
        <p:nvSpPr>
          <p:cNvPr id="5" name="Text 3"/>
          <p:cNvSpPr txBox="1"/>
          <p:nvPr/>
        </p:nvSpPr>
        <p:spPr>
          <a:xfrm>
            <a:off x="777240" y="201168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Full scheduling, publishing, campaign, analytics and report workflow</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Role-based team approvals, enforced on the server</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Live on Vercel, Render and Neon; real posts on Instagram, Facebook and YouTube</a:t>
            </a:r>
            <a:endParaRPr lang="en-US" sz="1400" dirty="0"/>
          </a:p>
        </p:txBody>
      </p:sp>
      <p:sp>
        <p:nvSpPr>
          <p:cNvPr id="6" name="Shape 4"/>
          <p:cNvSpPr/>
          <p:nvPr/>
        </p:nvSpPr>
        <p:spPr>
          <a:xfrm>
            <a:off x="4663440" y="1371600"/>
            <a:ext cx="3931920" cy="2651760"/>
          </a:xfrm>
          <a:prstGeom prst="roundRect">
            <a:avLst>
              <a:gd name="adj" fmla="val 2759"/>
            </a:avLst>
          </a:prstGeom>
          <a:solidFill>
            <a:schemeClr val="tx1"/>
          </a:solidFill>
          <a:ln w="12700">
            <a:solidFill>
              <a:schemeClr val="tx1"/>
            </a:solidFill>
            <a:prstDash val="solid"/>
          </a:ln>
        </p:spPr>
        <p:txBody>
          <a:bodyPr/>
          <a:p/>
        </p:txBody>
      </p:sp>
      <p:sp>
        <p:nvSpPr>
          <p:cNvPr id="7" name="Text 5"/>
          <p:cNvSpPr txBox="1"/>
          <p:nvPr/>
        </p:nvSpPr>
        <p:spPr>
          <a:xfrm>
            <a:off x="4892040" y="1508760"/>
            <a:ext cx="3474720" cy="36576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Next</a:t>
            </a:r>
            <a:endParaRPr lang="en-US" sz="2000" dirty="0"/>
          </a:p>
        </p:txBody>
      </p:sp>
      <p:sp>
        <p:nvSpPr>
          <p:cNvPr id="8" name="Text 6"/>
          <p:cNvSpPr txBox="1"/>
          <p:nvPr/>
        </p:nvSpPr>
        <p:spPr>
          <a:xfrm>
            <a:off x="4892040" y="201168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Live checks for LinkedIn and X</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Pinterest, carousels, stories and reels</a:t>
            </a:r>
            <a:endParaRPr lang="en-US" sz="1400" dirty="0"/>
          </a:p>
          <a:p>
            <a:pPr marL="342900" indent="-342900">
              <a:spcAft>
                <a:spcPts val="800"/>
              </a:spcAft>
              <a:buSzPct val="100000"/>
              <a:buChar char="•"/>
            </a:pPr>
            <a:r>
              <a:rPr lang="en-US" sz="1400" dirty="0">
                <a:solidFill>
                  <a:schemeClr val="bg1"/>
                </a:solidFill>
                <a:latin typeface="Calibri" pitchFamily="34" charset="0"/>
                <a:ea typeface="Calibri" pitchFamily="34" charset="-122"/>
                <a:cs typeface="Calibri" pitchFamily="34" charset="-120"/>
              </a:rPr>
              <a:t>Audience demographics and email verification</a:t>
            </a:r>
            <a:endParaRPr lang="en-US" sz="1400" dirty="0"/>
          </a:p>
        </p:txBody>
      </p:sp>
      <p:sp>
        <p:nvSpPr>
          <p:cNvPr id="9" name="Text 7"/>
          <p:cNvSpPr txBox="1"/>
          <p:nvPr/>
        </p:nvSpPr>
        <p:spPr>
          <a:xfrm>
            <a:off x="548640" y="4297680"/>
            <a:ext cx="8046720" cy="457200"/>
          </a:xfrm>
          <a:prstGeom prst="rect">
            <a:avLst/>
          </a:prstGeom>
          <a:noFill/>
          <a:ln/>
        </p:spPr>
        <p:txBody>
          <a:bodyPr wrap="square" lIns="0" tIns="0" rIns="0" bIns="0" rtlCol="0" anchor="ctr"/>
          <a:lstStyle/>
          <a:p>
            <a:pPr indent="0" marL="0">
              <a:buNone/>
            </a:pPr>
            <a:r>
              <a:rPr lang="en-US" sz="2000" b="1" dirty="0">
                <a:solidFill>
                  <a:schemeClr val="accent3"/>
                </a:solidFill>
                <a:latin typeface="Calibri" pitchFamily="34" charset="0"/>
                <a:ea typeface="Calibri" pitchFamily="34" charset="-122"/>
                <a:cs typeface="Calibri" pitchFamily="34" charset="-120"/>
              </a:rPr>
              <a:t>Thank you  |  Questions?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Live deployment</a:t>
            </a:r>
            <a:endParaRPr lang="en-US" sz="3000" dirty="0"/>
          </a:p>
        </p:txBody>
      </p:sp>
      <p:sp>
        <p:nvSpPr>
          <p:cNvPr id="3" name="Shape 1"/>
          <p:cNvSpPr/>
          <p:nvPr/>
        </p:nvSpPr>
        <p:spPr>
          <a:xfrm>
            <a:off x="457200" y="1097280"/>
            <a:ext cx="2651760" cy="1463040"/>
          </a:xfrm>
          <a:prstGeom prst="roundRect">
            <a:avLst>
              <a:gd name="adj" fmla="val 5000"/>
            </a:avLst>
          </a:prstGeom>
          <a:solidFill>
            <a:schemeClr val="bg2"/>
          </a:solidFill>
          <a:ln w="12700">
            <a:solidFill>
              <a:schemeClr val="bg2"/>
            </a:solidFill>
            <a:prstDash val="solid"/>
          </a:ln>
        </p:spPr>
      </p:sp>
      <p:sp>
        <p:nvSpPr>
          <p:cNvPr id="4" name="Shape 2"/>
          <p:cNvSpPr/>
          <p:nvPr/>
        </p:nvSpPr>
        <p:spPr>
          <a:xfrm>
            <a:off x="594360" y="1234440"/>
            <a:ext cx="457200" cy="457200"/>
          </a:xfrm>
          <a:prstGeom prst="ellipse">
            <a:avLst/>
          </a:prstGeom>
          <a:solidFill>
            <a:schemeClr val="accent4"/>
          </a:solidFill>
          <a:ln w="12700">
            <a:solidFill>
              <a:schemeClr val="accent4"/>
            </a:solidFill>
            <a:prstDash val="solid"/>
          </a:ln>
        </p:spPr>
      </p:sp>
      <p:pic>
        <p:nvPicPr>
          <p:cNvPr id="5" name="Image 0" descr="preencoded.png">    </p:cNvPr>
          <p:cNvPicPr>
            <a:picLocks noChangeAspect="1"/>
          </p:cNvPicPr>
          <p:nvPr/>
        </p:nvPicPr>
        <p:blipFill>
          <a:blip r:embed="rId1"/>
          <a:stretch>
            <a:fillRect/>
          </a:stretch>
        </p:blipFill>
        <p:spPr>
          <a:xfrm>
            <a:off x="717804" y="1357884"/>
            <a:ext cx="210312" cy="210312"/>
          </a:xfrm>
          <a:prstGeom prst="rect">
            <a:avLst/>
          </a:prstGeom>
        </p:spPr>
      </p:pic>
      <p:sp>
        <p:nvSpPr>
          <p:cNvPr id="6" name="Text 3"/>
          <p:cNvSpPr txBox="1"/>
          <p:nvPr/>
        </p:nvSpPr>
        <p:spPr>
          <a:xfrm>
            <a:off x="1170432" y="12344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API</a:t>
            </a:r>
            <a:endParaRPr lang="en-US" sz="1500" dirty="0"/>
          </a:p>
        </p:txBody>
      </p:sp>
      <p:sp>
        <p:nvSpPr>
          <p:cNvPr id="7" name="Text 4"/>
          <p:cNvSpPr txBox="1"/>
          <p:nvPr/>
        </p:nvSpPr>
        <p:spPr>
          <a:xfrm>
            <a:off x="594360" y="18105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Render web service in Docker; migrations run on start</a:t>
            </a:r>
            <a:endParaRPr lang="en-US" sz="1200" dirty="0"/>
          </a:p>
        </p:txBody>
      </p:sp>
      <p:sp>
        <p:nvSpPr>
          <p:cNvPr id="8" name="Shape 5"/>
          <p:cNvSpPr/>
          <p:nvPr/>
        </p:nvSpPr>
        <p:spPr>
          <a:xfrm>
            <a:off x="3246120" y="1097280"/>
            <a:ext cx="2651760" cy="1463040"/>
          </a:xfrm>
          <a:prstGeom prst="roundRect">
            <a:avLst>
              <a:gd name="adj" fmla="val 5000"/>
            </a:avLst>
          </a:prstGeom>
          <a:solidFill>
            <a:schemeClr val="bg2"/>
          </a:solidFill>
          <a:ln w="12700">
            <a:solidFill>
              <a:schemeClr val="bg2"/>
            </a:solidFill>
            <a:prstDash val="solid"/>
          </a:ln>
        </p:spPr>
      </p:sp>
      <p:sp>
        <p:nvSpPr>
          <p:cNvPr id="9" name="Shape 6"/>
          <p:cNvSpPr/>
          <p:nvPr/>
        </p:nvSpPr>
        <p:spPr>
          <a:xfrm>
            <a:off x="3383280" y="1234440"/>
            <a:ext cx="457200" cy="45720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3506724" y="1357884"/>
            <a:ext cx="210312" cy="210312"/>
          </a:xfrm>
          <a:prstGeom prst="rect">
            <a:avLst/>
          </a:prstGeom>
        </p:spPr>
      </p:pic>
      <p:sp>
        <p:nvSpPr>
          <p:cNvPr id="11" name="Text 7"/>
          <p:cNvSpPr txBox="1"/>
          <p:nvPr/>
        </p:nvSpPr>
        <p:spPr>
          <a:xfrm>
            <a:off x="3959352" y="12344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Frontend</a:t>
            </a:r>
            <a:endParaRPr lang="en-US" sz="1500" dirty="0"/>
          </a:p>
        </p:txBody>
      </p:sp>
      <p:sp>
        <p:nvSpPr>
          <p:cNvPr id="12" name="Text 8"/>
          <p:cNvSpPr txBox="1"/>
          <p:nvPr/>
        </p:nvSpPr>
        <p:spPr>
          <a:xfrm>
            <a:off x="3383280" y="18105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Vercel: socialpilot-app-lemon.vercel.app, React and Vite build</a:t>
            </a:r>
            <a:endParaRPr lang="en-US" sz="1200" dirty="0"/>
          </a:p>
        </p:txBody>
      </p:sp>
      <p:sp>
        <p:nvSpPr>
          <p:cNvPr id="13" name="Shape 9"/>
          <p:cNvSpPr/>
          <p:nvPr/>
        </p:nvSpPr>
        <p:spPr>
          <a:xfrm>
            <a:off x="6035040" y="1097280"/>
            <a:ext cx="2651760" cy="1463040"/>
          </a:xfrm>
          <a:prstGeom prst="roundRect">
            <a:avLst>
              <a:gd name="adj" fmla="val 5000"/>
            </a:avLst>
          </a:prstGeom>
          <a:solidFill>
            <a:schemeClr val="bg2"/>
          </a:solidFill>
          <a:ln w="12700">
            <a:solidFill>
              <a:schemeClr val="bg2"/>
            </a:solidFill>
            <a:prstDash val="solid"/>
          </a:ln>
        </p:spPr>
      </p:sp>
      <p:sp>
        <p:nvSpPr>
          <p:cNvPr id="14" name="Shape 10"/>
          <p:cNvSpPr/>
          <p:nvPr/>
        </p:nvSpPr>
        <p:spPr>
          <a:xfrm>
            <a:off x="6172200" y="1234440"/>
            <a:ext cx="457200" cy="457200"/>
          </a:xfrm>
          <a:prstGeom prst="ellipse">
            <a:avLst/>
          </a:prstGeom>
          <a:solidFill>
            <a:schemeClr val="tx2"/>
          </a:solidFill>
          <a:ln w="12700">
            <a:solidFill>
              <a:schemeClr val="tx2"/>
            </a:solidFill>
            <a:prstDash val="solid"/>
          </a:ln>
        </p:spPr>
      </p:sp>
      <p:pic>
        <p:nvPicPr>
          <p:cNvPr id="15" name="Image 2" descr="preencoded.png">    </p:cNvPr>
          <p:cNvPicPr>
            <a:picLocks noChangeAspect="1"/>
          </p:cNvPicPr>
          <p:nvPr/>
        </p:nvPicPr>
        <p:blipFill>
          <a:blip r:embed="rId3"/>
          <a:stretch>
            <a:fillRect/>
          </a:stretch>
        </p:blipFill>
        <p:spPr>
          <a:xfrm>
            <a:off x="6295644" y="1357884"/>
            <a:ext cx="210312" cy="210312"/>
          </a:xfrm>
          <a:prstGeom prst="rect">
            <a:avLst/>
          </a:prstGeom>
        </p:spPr>
      </p:pic>
      <p:sp>
        <p:nvSpPr>
          <p:cNvPr id="16" name="Text 11"/>
          <p:cNvSpPr txBox="1"/>
          <p:nvPr/>
        </p:nvSpPr>
        <p:spPr>
          <a:xfrm>
            <a:off x="6748272" y="12344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Database</a:t>
            </a:r>
            <a:endParaRPr lang="en-US" sz="1500" dirty="0"/>
          </a:p>
        </p:txBody>
      </p:sp>
      <p:sp>
        <p:nvSpPr>
          <p:cNvPr id="17" name="Text 12"/>
          <p:cNvSpPr txBox="1"/>
          <p:nvPr/>
        </p:nvSpPr>
        <p:spPr>
          <a:xfrm>
            <a:off x="6172200" y="18105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Neon PostgreSQL, schema at the latest migration</a:t>
            </a:r>
            <a:endParaRPr lang="en-US" sz="1200" dirty="0"/>
          </a:p>
        </p:txBody>
      </p:sp>
      <p:sp>
        <p:nvSpPr>
          <p:cNvPr id="18" name="Shape 13"/>
          <p:cNvSpPr/>
          <p:nvPr/>
        </p:nvSpPr>
        <p:spPr>
          <a:xfrm>
            <a:off x="457200" y="2697480"/>
            <a:ext cx="2651760" cy="1463040"/>
          </a:xfrm>
          <a:prstGeom prst="roundRect">
            <a:avLst>
              <a:gd name="adj" fmla="val 5000"/>
            </a:avLst>
          </a:prstGeom>
          <a:solidFill>
            <a:schemeClr val="bg2"/>
          </a:solidFill>
          <a:ln w="12700">
            <a:solidFill>
              <a:schemeClr val="bg2"/>
            </a:solidFill>
            <a:prstDash val="solid"/>
          </a:ln>
        </p:spPr>
      </p:sp>
      <p:sp>
        <p:nvSpPr>
          <p:cNvPr id="19" name="Shape 14"/>
          <p:cNvSpPr/>
          <p:nvPr/>
        </p:nvSpPr>
        <p:spPr>
          <a:xfrm>
            <a:off x="594360" y="2834640"/>
            <a:ext cx="457200" cy="45720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717804" y="2958084"/>
            <a:ext cx="210312" cy="210312"/>
          </a:xfrm>
          <a:prstGeom prst="rect">
            <a:avLst/>
          </a:prstGeom>
        </p:spPr>
      </p:pic>
      <p:sp>
        <p:nvSpPr>
          <p:cNvPr id="21" name="Text 15"/>
          <p:cNvSpPr txBox="1"/>
          <p:nvPr/>
        </p:nvSpPr>
        <p:spPr>
          <a:xfrm>
            <a:off x="1170432" y="28346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Secrets</a:t>
            </a:r>
            <a:endParaRPr lang="en-US" sz="1500" dirty="0"/>
          </a:p>
        </p:txBody>
      </p:sp>
      <p:sp>
        <p:nvSpPr>
          <p:cNvPr id="22" name="Text 16"/>
          <p:cNvSpPr txBox="1"/>
          <p:nvPr/>
        </p:nvSpPr>
        <p:spPr>
          <a:xfrm>
            <a:off x="594360" y="34107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Kept in Render, Vercel and GitHub secrets, never in the code</a:t>
            </a:r>
            <a:endParaRPr lang="en-US" sz="1200" dirty="0"/>
          </a:p>
        </p:txBody>
      </p:sp>
      <p:sp>
        <p:nvSpPr>
          <p:cNvPr id="23" name="Shape 17"/>
          <p:cNvSpPr/>
          <p:nvPr/>
        </p:nvSpPr>
        <p:spPr>
          <a:xfrm>
            <a:off x="3246120" y="2697480"/>
            <a:ext cx="2651760" cy="1463040"/>
          </a:xfrm>
          <a:prstGeom prst="roundRect">
            <a:avLst>
              <a:gd name="adj" fmla="val 5000"/>
            </a:avLst>
          </a:prstGeom>
          <a:solidFill>
            <a:schemeClr val="bg2"/>
          </a:solidFill>
          <a:ln w="12700">
            <a:solidFill>
              <a:schemeClr val="bg2"/>
            </a:solidFill>
            <a:prstDash val="solid"/>
          </a:ln>
        </p:spPr>
      </p:sp>
      <p:sp>
        <p:nvSpPr>
          <p:cNvPr id="24" name="Shape 18"/>
          <p:cNvSpPr/>
          <p:nvPr/>
        </p:nvSpPr>
        <p:spPr>
          <a:xfrm>
            <a:off x="3383280" y="2834640"/>
            <a:ext cx="457200" cy="457200"/>
          </a:xfrm>
          <a:prstGeom prst="ellipse">
            <a:avLst/>
          </a:prstGeom>
          <a:solidFill>
            <a:schemeClr val="accent3"/>
          </a:solidFill>
          <a:ln w="12700">
            <a:solidFill>
              <a:schemeClr val="accent3"/>
            </a:solidFill>
            <a:prstDash val="solid"/>
          </a:ln>
        </p:spPr>
      </p:sp>
      <p:pic>
        <p:nvPicPr>
          <p:cNvPr id="25" name="Image 4" descr="preencoded.png">    </p:cNvPr>
          <p:cNvPicPr>
            <a:picLocks noChangeAspect="1"/>
          </p:cNvPicPr>
          <p:nvPr/>
        </p:nvPicPr>
        <p:blipFill>
          <a:blip r:embed="rId5"/>
          <a:stretch>
            <a:fillRect/>
          </a:stretch>
        </p:blipFill>
        <p:spPr>
          <a:xfrm>
            <a:off x="3506724" y="2958084"/>
            <a:ext cx="210312" cy="210312"/>
          </a:xfrm>
          <a:prstGeom prst="rect">
            <a:avLst/>
          </a:prstGeom>
        </p:spPr>
      </p:pic>
      <p:sp>
        <p:nvSpPr>
          <p:cNvPr id="26" name="Text 19"/>
          <p:cNvSpPr txBox="1"/>
          <p:nvPr/>
        </p:nvSpPr>
        <p:spPr>
          <a:xfrm>
            <a:off x="3959352" y="28346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Live results</a:t>
            </a:r>
            <a:endParaRPr lang="en-US" sz="1500" dirty="0"/>
          </a:p>
        </p:txBody>
      </p:sp>
      <p:sp>
        <p:nvSpPr>
          <p:cNvPr id="27" name="Text 20"/>
          <p:cNvSpPr txBox="1"/>
          <p:nvPr/>
        </p:nvSpPr>
        <p:spPr>
          <a:xfrm>
            <a:off x="3383280" y="34107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Instagram, Facebook and YouTube connected and published</a:t>
            </a:r>
            <a:endParaRPr lang="en-US" sz="1200" dirty="0"/>
          </a:p>
        </p:txBody>
      </p:sp>
      <p:sp>
        <p:nvSpPr>
          <p:cNvPr id="28" name="Shape 21"/>
          <p:cNvSpPr/>
          <p:nvPr/>
        </p:nvSpPr>
        <p:spPr>
          <a:xfrm>
            <a:off x="6035040" y="2697480"/>
            <a:ext cx="2651760" cy="1463040"/>
          </a:xfrm>
          <a:prstGeom prst="roundRect">
            <a:avLst>
              <a:gd name="adj" fmla="val 5000"/>
            </a:avLst>
          </a:prstGeom>
          <a:solidFill>
            <a:schemeClr val="bg2"/>
          </a:solidFill>
          <a:ln w="12700">
            <a:solidFill>
              <a:schemeClr val="bg2"/>
            </a:solidFill>
            <a:prstDash val="solid"/>
          </a:ln>
        </p:spPr>
      </p:sp>
      <p:sp>
        <p:nvSpPr>
          <p:cNvPr id="29" name="Shape 22"/>
          <p:cNvSpPr/>
          <p:nvPr/>
        </p:nvSpPr>
        <p:spPr>
          <a:xfrm>
            <a:off x="6172200" y="2834640"/>
            <a:ext cx="457200" cy="457200"/>
          </a:xfrm>
          <a:prstGeom prst="ellipse">
            <a:avLst/>
          </a:prstGeom>
          <a:solidFill>
            <a:schemeClr val="accent6"/>
          </a:solidFill>
          <a:ln w="12700">
            <a:solidFill>
              <a:schemeClr val="accent6"/>
            </a:solidFill>
            <a:prstDash val="solid"/>
          </a:ln>
        </p:spPr>
      </p:sp>
      <p:pic>
        <p:nvPicPr>
          <p:cNvPr id="30" name="Image 5" descr="preencoded.png">    </p:cNvPr>
          <p:cNvPicPr>
            <a:picLocks noChangeAspect="1"/>
          </p:cNvPicPr>
          <p:nvPr/>
        </p:nvPicPr>
        <p:blipFill>
          <a:blip r:embed="rId6"/>
          <a:stretch>
            <a:fillRect/>
          </a:stretch>
        </p:blipFill>
        <p:spPr>
          <a:xfrm>
            <a:off x="6295644" y="2958084"/>
            <a:ext cx="210312" cy="210312"/>
          </a:xfrm>
          <a:prstGeom prst="rect">
            <a:avLst/>
          </a:prstGeom>
        </p:spPr>
      </p:pic>
      <p:sp>
        <p:nvSpPr>
          <p:cNvPr id="31" name="Text 23"/>
          <p:cNvSpPr txBox="1"/>
          <p:nvPr/>
        </p:nvSpPr>
        <p:spPr>
          <a:xfrm>
            <a:off x="6748272" y="2834640"/>
            <a:ext cx="1828800" cy="457200"/>
          </a:xfrm>
          <a:prstGeom prst="rect">
            <a:avLst/>
          </a:prstGeom>
          <a:noFill/>
          <a:ln/>
        </p:spPr>
        <p:txBody>
          <a:bodyPr wrap="square" lIns="0" tIns="0" rIns="0" bIns="0" rtlCol="0" anchor="ctr"/>
          <a:lstStyle/>
          <a:p>
            <a:pPr indent="0" marL="0">
              <a:buNone/>
            </a:pPr>
            <a:r>
              <a:rPr lang="en-US" sz="1500" b="1" dirty="0">
                <a:solidFill>
                  <a:schemeClr val="tx2"/>
                </a:solidFill>
                <a:latin typeface="Cambria" pitchFamily="34" charset="0"/>
                <a:ea typeface="Cambria" pitchFamily="34" charset="-122"/>
                <a:cs typeface="Cambria" pitchFamily="34" charset="-120"/>
              </a:rPr>
              <a:t>Worker</a:t>
            </a:r>
            <a:endParaRPr lang="en-US" sz="1500" dirty="0"/>
          </a:p>
        </p:txBody>
      </p:sp>
      <p:sp>
        <p:nvSpPr>
          <p:cNvPr id="32" name="Text 24"/>
          <p:cNvSpPr txBox="1"/>
          <p:nvPr/>
        </p:nvSpPr>
        <p:spPr>
          <a:xfrm>
            <a:off x="6172200" y="3410712"/>
            <a:ext cx="2395728" cy="71323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GitHub Actions runs the publishing worker when started by hand</a:t>
            </a:r>
            <a:endParaRPr lang="en-US" sz="1200" dirty="0"/>
          </a:p>
        </p:txBody>
      </p:sp>
      <p:sp>
        <p:nvSpPr>
          <p:cNvPr id="33" name="Text 25"/>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Free tiers: the API sleeps when idle (about 50 s to wake). Meta app is in test mode; YouTube uploads are private.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ocialPilot">
  <a:themeElements>
    <a:clrScheme name="SocialPilot">
      <a:dk1>
        <a:srgbClr val="1B2236"/>
      </a:dk1>
      <a:lt1>
        <a:srgbClr val="FFFFFF"/>
      </a:lt1>
      <a:dk2>
        <a:srgbClr val="0F1B3D"/>
      </a:dk2>
      <a:lt2>
        <a:srgbClr val="F2F5FA"/>
      </a:lt2>
      <a:accent1>
        <a:srgbClr val="F2644F"/>
      </a:accent1>
      <a:accent2>
        <a:srgbClr val="13A89E"/>
      </a:accent2>
      <a:accent3>
        <a:srgbClr val="F2B33D"/>
      </a:accent3>
      <a:accent4>
        <a:srgbClr val="5B5BD6"/>
      </a:accent4>
      <a:accent5>
        <a:srgbClr val="8A94A8"/>
      </a:accent5>
      <a:accent6>
        <a:srgbClr val="2E9E5B"/>
      </a:accent6>
      <a:hlink>
        <a:srgbClr val="2563EB"/>
      </a:hlink>
      <a:folHlink>
        <a:srgbClr val="6B7280"/>
      </a:folHlink>
    </a:clrScheme>
    <a:fontScheme name="Social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SocialPilot - Final Presentation</dc:title>
  <dc:subject>PptxGenJS Presentation</dc:subject>
  <dc:creator>Aryan Patel</dc:creator>
  <cp:lastModifiedBy>Aryan Patel</cp:lastModifiedBy>
  <cp:revision>1</cp:revision>
  <dcterms:created xsi:type="dcterms:W3CDTF">2026-10-07T09:06:26Z</dcterms:created>
  <dcterms:modified xsi:type="dcterms:W3CDTF">2026-10-07T09:06:26Z</dcterms:modified>
  <dc:description/>
  <cp:keywords/>
</cp:coreProperties>
</file>